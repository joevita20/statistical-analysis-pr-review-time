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embeddedFontLst>
    <p:embeddedFont>
      <p:font typeface="Crimson Pro"/>
      <p:regular r:id="rId16"/>
    </p:embeddedFont>
    <p:embeddedFont>
      <p:font typeface="Crimson Pro"/>
      <p:regular r:id="rId17"/>
    </p:embeddedFont>
    <p:embeddedFont>
      <p:font typeface="Crimson Pro"/>
      <p:regular r:id="rId18"/>
    </p:embeddedFont>
    <p:embeddedFont>
      <p:font typeface="Crimson Pro"/>
      <p:regular r:id="rId19"/>
    </p:embeddedFont>
    <p:embeddedFont>
      <p:font typeface="Open Sans"/>
      <p:regular r:id="rId20"/>
    </p:embeddedFont>
    <p:embeddedFont>
      <p:font typeface="Open Sans"/>
      <p:regular r:id="rId21"/>
    </p:embeddedFont>
    <p:embeddedFont>
      <p:font typeface="Open Sans"/>
      <p:regular r:id="rId22"/>
    </p:embeddedFont>
    <p:embeddedFont>
      <p:font typeface="Open Sans"/>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 Id="rId22" Type="http://schemas.openxmlformats.org/officeDocument/2006/relationships/font" Target="fonts/font7.fntdata"/><Relationship Id="rId23"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EDE9"/>
          </a:solidFill>
          <a:ln/>
        </p:spPr>
      </p:sp>
      <p:sp>
        <p:nvSpPr>
          <p:cNvPr id="3" name="Shape 1"/>
          <p:cNvSpPr/>
          <p:nvPr/>
        </p:nvSpPr>
        <p:spPr>
          <a:xfrm>
            <a:off x="0" y="0"/>
            <a:ext cx="14630400" cy="8229600"/>
          </a:xfrm>
          <a:prstGeom prst="rect">
            <a:avLst/>
          </a:prstGeom>
          <a:solidFill>
            <a:srgbClr val="FFFCFA"/>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6.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436376"/>
            <a:ext cx="13042821" cy="1417558"/>
          </a:xfrm>
          <a:prstGeom prst="rect">
            <a:avLst/>
          </a:prstGeom>
          <a:noFill/>
          <a:ln/>
        </p:spPr>
        <p:txBody>
          <a:bodyPr wrap="square" lIns="0" tIns="0" rIns="0" bIns="0" rtlCol="0" anchor="t"/>
          <a:lstStyle/>
          <a:p>
            <a:pPr algn="l" indent="0" marL="0">
              <a:lnSpc>
                <a:spcPts val="5550"/>
              </a:lnSpc>
              <a:buNone/>
            </a:pPr>
            <a:r>
              <a:rPr lang="en-US" sz="4450" b="1" dirty="0">
                <a:solidFill>
                  <a:srgbClr val="443728"/>
                </a:solidFill>
                <a:latin typeface="Crimson Pro Bold" pitchFamily="34" charset="0"/>
                <a:ea typeface="Crimson Pro Bold" pitchFamily="34" charset="-122"/>
                <a:cs typeface="Crimson Pro Bold" pitchFamily="34" charset="-120"/>
              </a:rPr>
              <a:t>Statistical Analysis of Pull Requests in Open-Source GitHub Repositories</a:t>
            </a:r>
            <a:endParaRPr lang="en-US" sz="4450" dirty="0"/>
          </a:p>
        </p:txBody>
      </p:sp>
      <p:sp>
        <p:nvSpPr>
          <p:cNvPr id="3" name="Text 1"/>
          <p:cNvSpPr/>
          <p:nvPr/>
        </p:nvSpPr>
        <p:spPr>
          <a:xfrm>
            <a:off x="793790" y="4194096"/>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Joevita Faustina Doss Felix Anthony Raj</a:t>
            </a:r>
            <a:endParaRPr lang="en-US" sz="1750" dirty="0"/>
          </a:p>
        </p:txBody>
      </p:sp>
      <p:sp>
        <p:nvSpPr>
          <p:cNvPr id="4" name="Text 2"/>
          <p:cNvSpPr/>
          <p:nvPr/>
        </p:nvSpPr>
        <p:spPr>
          <a:xfrm>
            <a:off x="793790" y="4812149"/>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INFO 6105 – Data Science engineering tools and methods </a:t>
            </a:r>
            <a:endParaRPr lang="en-US" sz="1750" dirty="0"/>
          </a:p>
        </p:txBody>
      </p:sp>
      <p:sp>
        <p:nvSpPr>
          <p:cNvPr id="5" name="Text 3"/>
          <p:cNvSpPr/>
          <p:nvPr/>
        </p:nvSpPr>
        <p:spPr>
          <a:xfrm>
            <a:off x="793790" y="543020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Northeastern University</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15509"/>
            <a:ext cx="7988737" cy="566976"/>
          </a:xfrm>
          <a:prstGeom prst="rect">
            <a:avLst/>
          </a:prstGeom>
          <a:noFill/>
          <a:ln/>
        </p:spPr>
        <p:txBody>
          <a:bodyPr wrap="none" lIns="0" tIns="0" rIns="0" bIns="0" rtlCol="0" anchor="t"/>
          <a:lstStyle/>
          <a:p>
            <a:pPr algn="l" indent="0" marL="0">
              <a:lnSpc>
                <a:spcPts val="4450"/>
              </a:lnSpc>
              <a:buNone/>
            </a:pPr>
            <a:r>
              <a:rPr lang="en-US" sz="3550" b="1" dirty="0">
                <a:solidFill>
                  <a:srgbClr val="443728"/>
                </a:solidFill>
                <a:latin typeface="Crimson Pro Bold" pitchFamily="34" charset="0"/>
                <a:ea typeface="Crimson Pro Bold" pitchFamily="34" charset="-122"/>
                <a:cs typeface="Crimson Pro Bold" pitchFamily="34" charset="-120"/>
              </a:rPr>
              <a:t>Problem Statement &amp; Research Questions</a:t>
            </a:r>
            <a:endParaRPr lang="en-US" sz="3550" dirty="0"/>
          </a:p>
        </p:txBody>
      </p:sp>
      <p:sp>
        <p:nvSpPr>
          <p:cNvPr id="3" name="Shape 1"/>
          <p:cNvSpPr/>
          <p:nvPr/>
        </p:nvSpPr>
        <p:spPr>
          <a:xfrm>
            <a:off x="793790" y="2236113"/>
            <a:ext cx="4196358" cy="3381970"/>
          </a:xfrm>
          <a:prstGeom prst="roundRect">
            <a:avLst>
              <a:gd name="adj" fmla="val 2817"/>
            </a:avLst>
          </a:prstGeom>
          <a:solidFill>
            <a:srgbClr val="EBE2E0"/>
          </a:solidFill>
          <a:ln w="7620">
            <a:solidFill>
              <a:srgbClr val="D1C8C6"/>
            </a:solidFill>
            <a:prstDash val="solid"/>
          </a:ln>
        </p:spPr>
      </p:sp>
      <p:sp>
        <p:nvSpPr>
          <p:cNvPr id="4" name="Shape 2"/>
          <p:cNvSpPr/>
          <p:nvPr/>
        </p:nvSpPr>
        <p:spPr>
          <a:xfrm>
            <a:off x="1028224" y="2470547"/>
            <a:ext cx="680442" cy="680442"/>
          </a:xfrm>
          <a:prstGeom prst="roundRect">
            <a:avLst>
              <a:gd name="adj" fmla="val 13436980"/>
            </a:avLst>
          </a:prstGeom>
          <a:solidFill>
            <a:srgbClr val="835E54"/>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15390" y="2657594"/>
            <a:ext cx="306110" cy="306110"/>
          </a:xfrm>
          <a:prstGeom prst="rect">
            <a:avLst/>
          </a:prstGeom>
        </p:spPr>
      </p:pic>
      <p:sp>
        <p:nvSpPr>
          <p:cNvPr id="6" name="Text 3"/>
          <p:cNvSpPr/>
          <p:nvPr/>
        </p:nvSpPr>
        <p:spPr>
          <a:xfrm>
            <a:off x="1028224" y="3377803"/>
            <a:ext cx="3557707" cy="354330"/>
          </a:xfrm>
          <a:prstGeom prst="rect">
            <a:avLst/>
          </a:prstGeom>
          <a:noFill/>
          <a:ln/>
        </p:spPr>
        <p:txBody>
          <a:bodyPr wrap="none" lIns="0" tIns="0" rIns="0" bIns="0" rtlCol="0" anchor="t"/>
          <a:lstStyle/>
          <a:p>
            <a:pPr algn="l" indent="0" marL="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Why PR Review Time Matters</a:t>
            </a:r>
            <a:endParaRPr lang="en-US" sz="2200" dirty="0"/>
          </a:p>
        </p:txBody>
      </p:sp>
      <p:sp>
        <p:nvSpPr>
          <p:cNvPr id="7" name="Text 4"/>
          <p:cNvSpPr/>
          <p:nvPr/>
        </p:nvSpPr>
        <p:spPr>
          <a:xfrm>
            <a:off x="1028224" y="3868222"/>
            <a:ext cx="3727490" cy="1451372"/>
          </a:xfrm>
          <a:prstGeom prst="rect">
            <a:avLst/>
          </a:prstGeom>
          <a:noFill/>
          <a:ln/>
        </p:spPr>
        <p:txBody>
          <a:bodyPr wrap="square" lIns="0" tIns="0" rIns="0" bIns="0" rtlCol="0" anchor="t"/>
          <a:lstStyle/>
          <a:p>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Pull Request (PR) review time is a major bottleneck in collaborative software development. Delays in review can slow releases and disrupt development workflows.</a:t>
            </a:r>
            <a:endParaRPr lang="en-US" sz="1400" dirty="0"/>
          </a:p>
        </p:txBody>
      </p:sp>
      <p:sp>
        <p:nvSpPr>
          <p:cNvPr id="8" name="Shape 5"/>
          <p:cNvSpPr/>
          <p:nvPr/>
        </p:nvSpPr>
        <p:spPr>
          <a:xfrm>
            <a:off x="5216962" y="2236113"/>
            <a:ext cx="4196358" cy="3381970"/>
          </a:xfrm>
          <a:prstGeom prst="roundRect">
            <a:avLst>
              <a:gd name="adj" fmla="val 2817"/>
            </a:avLst>
          </a:prstGeom>
          <a:solidFill>
            <a:srgbClr val="EBE2E0"/>
          </a:solidFill>
          <a:ln w="7620">
            <a:solidFill>
              <a:srgbClr val="D1C8C6"/>
            </a:solidFill>
            <a:prstDash val="solid"/>
          </a:ln>
        </p:spPr>
      </p:sp>
      <p:sp>
        <p:nvSpPr>
          <p:cNvPr id="9" name="Shape 6"/>
          <p:cNvSpPr/>
          <p:nvPr/>
        </p:nvSpPr>
        <p:spPr>
          <a:xfrm>
            <a:off x="5451396" y="2470547"/>
            <a:ext cx="680442" cy="680442"/>
          </a:xfrm>
          <a:prstGeom prst="roundRect">
            <a:avLst>
              <a:gd name="adj" fmla="val 13436980"/>
            </a:avLst>
          </a:prstGeom>
          <a:solidFill>
            <a:srgbClr val="835E54"/>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8562" y="2657594"/>
            <a:ext cx="306110" cy="306110"/>
          </a:xfrm>
          <a:prstGeom prst="rect">
            <a:avLst/>
          </a:prstGeom>
        </p:spPr>
      </p:pic>
      <p:sp>
        <p:nvSpPr>
          <p:cNvPr id="11" name="Text 7"/>
          <p:cNvSpPr/>
          <p:nvPr/>
        </p:nvSpPr>
        <p:spPr>
          <a:xfrm>
            <a:off x="5451396" y="3377803"/>
            <a:ext cx="3727490" cy="708660"/>
          </a:xfrm>
          <a:prstGeom prst="rect">
            <a:avLst/>
          </a:prstGeom>
          <a:noFill/>
          <a:ln/>
        </p:spPr>
        <p:txBody>
          <a:bodyPr wrap="square" lIns="0" tIns="0" rIns="0" bIns="0" rtlCol="0" anchor="t"/>
          <a:lstStyle/>
          <a:p>
            <a:pPr algn="l" indent="0" marL="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Impact on Developer Productivity</a:t>
            </a:r>
            <a:endParaRPr lang="en-US" sz="2200" dirty="0"/>
          </a:p>
        </p:txBody>
      </p:sp>
      <p:sp>
        <p:nvSpPr>
          <p:cNvPr id="12" name="Text 8"/>
          <p:cNvSpPr/>
          <p:nvPr/>
        </p:nvSpPr>
        <p:spPr>
          <a:xfrm>
            <a:off x="5451396" y="4222552"/>
            <a:ext cx="3727490" cy="1161098"/>
          </a:xfrm>
          <a:prstGeom prst="rect">
            <a:avLst/>
          </a:prstGeom>
          <a:noFill/>
          <a:ln/>
        </p:spPr>
        <p:txBody>
          <a:bodyPr wrap="square" lIns="0" tIns="0" rIns="0" bIns="0" rtlCol="0" anchor="t"/>
          <a:lstStyle/>
          <a:p>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Extended review cycles reduce developer productivity and morale, as contributors must wait for their work to be reviewed and merged, lowering overall project velocity.</a:t>
            </a:r>
            <a:endParaRPr lang="en-US" sz="1400" dirty="0"/>
          </a:p>
        </p:txBody>
      </p:sp>
      <p:sp>
        <p:nvSpPr>
          <p:cNvPr id="13" name="Shape 9"/>
          <p:cNvSpPr/>
          <p:nvPr/>
        </p:nvSpPr>
        <p:spPr>
          <a:xfrm>
            <a:off x="9640133" y="2236113"/>
            <a:ext cx="4196358" cy="3381970"/>
          </a:xfrm>
          <a:prstGeom prst="roundRect">
            <a:avLst>
              <a:gd name="adj" fmla="val 2817"/>
            </a:avLst>
          </a:prstGeom>
          <a:solidFill>
            <a:srgbClr val="EBE2E0"/>
          </a:solidFill>
          <a:ln w="7620">
            <a:solidFill>
              <a:srgbClr val="D1C8C6"/>
            </a:solidFill>
            <a:prstDash val="solid"/>
          </a:ln>
        </p:spPr>
      </p:sp>
      <p:sp>
        <p:nvSpPr>
          <p:cNvPr id="14" name="Shape 10"/>
          <p:cNvSpPr/>
          <p:nvPr/>
        </p:nvSpPr>
        <p:spPr>
          <a:xfrm>
            <a:off x="9874568" y="2470547"/>
            <a:ext cx="680442" cy="680442"/>
          </a:xfrm>
          <a:prstGeom prst="roundRect">
            <a:avLst>
              <a:gd name="adj" fmla="val 13436980"/>
            </a:avLst>
          </a:prstGeom>
          <a:solidFill>
            <a:srgbClr val="835E54"/>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61734" y="2657594"/>
            <a:ext cx="306110" cy="306110"/>
          </a:xfrm>
          <a:prstGeom prst="rect">
            <a:avLst/>
          </a:prstGeom>
        </p:spPr>
      </p:pic>
      <p:sp>
        <p:nvSpPr>
          <p:cNvPr id="16" name="Text 11"/>
          <p:cNvSpPr/>
          <p:nvPr/>
        </p:nvSpPr>
        <p:spPr>
          <a:xfrm>
            <a:off x="9874568" y="3377803"/>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Research Motivation</a:t>
            </a:r>
            <a:endParaRPr lang="en-US" sz="2200" dirty="0"/>
          </a:p>
        </p:txBody>
      </p:sp>
      <p:sp>
        <p:nvSpPr>
          <p:cNvPr id="17" name="Text 12"/>
          <p:cNvSpPr/>
          <p:nvPr/>
        </p:nvSpPr>
        <p:spPr>
          <a:xfrm>
            <a:off x="9874568" y="3868222"/>
            <a:ext cx="3727490" cy="1161098"/>
          </a:xfrm>
          <a:prstGeom prst="rect">
            <a:avLst/>
          </a:prstGeom>
          <a:noFill/>
          <a:ln/>
        </p:spPr>
        <p:txBody>
          <a:bodyPr wrap="square" lIns="0" tIns="0" rIns="0" bIns="0" rtlCol="0" anchor="t"/>
          <a:lstStyle/>
          <a:p>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Understanding what drives PR review time enables teams to design more efficient review processes and improve collaboration outcomes.</a:t>
            </a:r>
            <a:endParaRPr lang="en-US" sz="1400" dirty="0"/>
          </a:p>
        </p:txBody>
      </p:sp>
      <p:sp>
        <p:nvSpPr>
          <p:cNvPr id="18" name="Shape 13"/>
          <p:cNvSpPr/>
          <p:nvPr/>
        </p:nvSpPr>
        <p:spPr>
          <a:xfrm>
            <a:off x="793790" y="5873234"/>
            <a:ext cx="510302" cy="510302"/>
          </a:xfrm>
          <a:prstGeom prst="roundRect">
            <a:avLst>
              <a:gd name="adj" fmla="val 18669"/>
            </a:avLst>
          </a:prstGeom>
          <a:solidFill>
            <a:srgbClr val="EBE2E0"/>
          </a:solidFill>
          <a:ln w="7620">
            <a:solidFill>
              <a:srgbClr val="D1C8C6"/>
            </a:solidFill>
            <a:prstDash val="solid"/>
          </a:ln>
        </p:spPr>
      </p:sp>
      <p:sp>
        <p:nvSpPr>
          <p:cNvPr id="19" name="Text 14"/>
          <p:cNvSpPr/>
          <p:nvPr/>
        </p:nvSpPr>
        <p:spPr>
          <a:xfrm>
            <a:off x="878860" y="5915739"/>
            <a:ext cx="340162" cy="425291"/>
          </a:xfrm>
          <a:prstGeom prst="rect">
            <a:avLst/>
          </a:prstGeom>
          <a:noFill/>
          <a:ln/>
        </p:spPr>
        <p:txBody>
          <a:bodyPr wrap="none" lIns="0" tIns="0" rIns="0" bIns="0" rtlCol="0" anchor="t"/>
          <a:lstStyle/>
          <a:p>
            <a:pPr algn="ctr" indent="0" marL="0">
              <a:lnSpc>
                <a:spcPts val="2650"/>
              </a:lnSpc>
              <a:buNone/>
            </a:pPr>
            <a:r>
              <a:rPr lang="en-US" sz="2650" b="1" dirty="0">
                <a:solidFill>
                  <a:srgbClr val="443728"/>
                </a:solidFill>
                <a:latin typeface="Crimson Pro Bold" pitchFamily="34" charset="0"/>
                <a:ea typeface="Crimson Pro Bold" pitchFamily="34" charset="-122"/>
                <a:cs typeface="Crimson Pro Bold" pitchFamily="34" charset="-120"/>
              </a:rPr>
              <a:t>1</a:t>
            </a:r>
            <a:endParaRPr lang="en-US" sz="2650" dirty="0"/>
          </a:p>
        </p:txBody>
      </p:sp>
      <p:sp>
        <p:nvSpPr>
          <p:cNvPr id="20" name="Text 15"/>
          <p:cNvSpPr/>
          <p:nvPr/>
        </p:nvSpPr>
        <p:spPr>
          <a:xfrm>
            <a:off x="1530906" y="5951101"/>
            <a:ext cx="3421499" cy="708660"/>
          </a:xfrm>
          <a:prstGeom prst="rect">
            <a:avLst/>
          </a:prstGeom>
          <a:noFill/>
          <a:ln/>
        </p:spPr>
        <p:txBody>
          <a:bodyPr wrap="square" lIns="0" tIns="0" rIns="0" bIns="0" rtlCol="0" anchor="t"/>
          <a:lstStyle/>
          <a:p>
            <a:pPr algn="l" indent="0" marL="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Does collaboration activity affect PR review time?</a:t>
            </a:r>
            <a:endParaRPr lang="en-US" sz="2200" dirty="0"/>
          </a:p>
        </p:txBody>
      </p:sp>
      <p:sp>
        <p:nvSpPr>
          <p:cNvPr id="21" name="Shape 16"/>
          <p:cNvSpPr/>
          <p:nvPr/>
        </p:nvSpPr>
        <p:spPr>
          <a:xfrm>
            <a:off x="5235893" y="5873234"/>
            <a:ext cx="510302" cy="510302"/>
          </a:xfrm>
          <a:prstGeom prst="roundRect">
            <a:avLst>
              <a:gd name="adj" fmla="val 18669"/>
            </a:avLst>
          </a:prstGeom>
          <a:solidFill>
            <a:srgbClr val="EBE2E0"/>
          </a:solidFill>
          <a:ln w="7620">
            <a:solidFill>
              <a:srgbClr val="D1C8C6"/>
            </a:solidFill>
            <a:prstDash val="solid"/>
          </a:ln>
        </p:spPr>
      </p:sp>
      <p:sp>
        <p:nvSpPr>
          <p:cNvPr id="22" name="Text 17"/>
          <p:cNvSpPr/>
          <p:nvPr/>
        </p:nvSpPr>
        <p:spPr>
          <a:xfrm>
            <a:off x="5320963" y="5915739"/>
            <a:ext cx="340162" cy="425291"/>
          </a:xfrm>
          <a:prstGeom prst="rect">
            <a:avLst/>
          </a:prstGeom>
          <a:noFill/>
          <a:ln/>
        </p:spPr>
        <p:txBody>
          <a:bodyPr wrap="none" lIns="0" tIns="0" rIns="0" bIns="0" rtlCol="0" anchor="t"/>
          <a:lstStyle/>
          <a:p>
            <a:pPr algn="ctr" indent="0" marL="0">
              <a:lnSpc>
                <a:spcPts val="2650"/>
              </a:lnSpc>
              <a:buNone/>
            </a:pPr>
            <a:r>
              <a:rPr lang="en-US" sz="2650" b="1" dirty="0">
                <a:solidFill>
                  <a:srgbClr val="443728"/>
                </a:solidFill>
                <a:latin typeface="Crimson Pro Bold" pitchFamily="34" charset="0"/>
                <a:ea typeface="Crimson Pro Bold" pitchFamily="34" charset="-122"/>
                <a:cs typeface="Crimson Pro Bold" pitchFamily="34" charset="-120"/>
              </a:rPr>
              <a:t>2</a:t>
            </a:r>
            <a:endParaRPr lang="en-US" sz="2650" dirty="0"/>
          </a:p>
        </p:txBody>
      </p:sp>
      <p:sp>
        <p:nvSpPr>
          <p:cNvPr id="23" name="Text 18"/>
          <p:cNvSpPr/>
          <p:nvPr/>
        </p:nvSpPr>
        <p:spPr>
          <a:xfrm>
            <a:off x="5973008" y="5951101"/>
            <a:ext cx="3421499" cy="1062990"/>
          </a:xfrm>
          <a:prstGeom prst="rect">
            <a:avLst/>
          </a:prstGeom>
          <a:noFill/>
          <a:ln/>
        </p:spPr>
        <p:txBody>
          <a:bodyPr wrap="square" lIns="0" tIns="0" rIns="0" bIns="0" rtlCol="0" anchor="t"/>
          <a:lstStyle/>
          <a:p>
            <a:pPr algn="l" indent="0" marL="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Do Contributors and Members differ in average review time?</a:t>
            </a:r>
            <a:endParaRPr lang="en-US" sz="2200" dirty="0"/>
          </a:p>
        </p:txBody>
      </p:sp>
      <p:sp>
        <p:nvSpPr>
          <p:cNvPr id="24" name="Shape 19"/>
          <p:cNvSpPr/>
          <p:nvPr/>
        </p:nvSpPr>
        <p:spPr>
          <a:xfrm>
            <a:off x="9677995" y="5873234"/>
            <a:ext cx="510302" cy="510302"/>
          </a:xfrm>
          <a:prstGeom prst="roundRect">
            <a:avLst>
              <a:gd name="adj" fmla="val 18669"/>
            </a:avLst>
          </a:prstGeom>
          <a:solidFill>
            <a:srgbClr val="EBE2E0"/>
          </a:solidFill>
          <a:ln w="7620">
            <a:solidFill>
              <a:srgbClr val="D1C8C6"/>
            </a:solidFill>
            <a:prstDash val="solid"/>
          </a:ln>
        </p:spPr>
      </p:sp>
      <p:sp>
        <p:nvSpPr>
          <p:cNvPr id="25" name="Text 20"/>
          <p:cNvSpPr/>
          <p:nvPr/>
        </p:nvSpPr>
        <p:spPr>
          <a:xfrm>
            <a:off x="9763065" y="5915739"/>
            <a:ext cx="340162" cy="425291"/>
          </a:xfrm>
          <a:prstGeom prst="rect">
            <a:avLst/>
          </a:prstGeom>
          <a:noFill/>
          <a:ln/>
        </p:spPr>
        <p:txBody>
          <a:bodyPr wrap="none" lIns="0" tIns="0" rIns="0" bIns="0" rtlCol="0" anchor="t"/>
          <a:lstStyle/>
          <a:p>
            <a:pPr algn="ctr" indent="0" marL="0">
              <a:lnSpc>
                <a:spcPts val="2650"/>
              </a:lnSpc>
              <a:buNone/>
            </a:pPr>
            <a:r>
              <a:rPr lang="en-US" sz="2650" b="1" dirty="0">
                <a:solidFill>
                  <a:srgbClr val="443728"/>
                </a:solidFill>
                <a:latin typeface="Crimson Pro Bold" pitchFamily="34" charset="0"/>
                <a:ea typeface="Crimson Pro Bold" pitchFamily="34" charset="-122"/>
                <a:cs typeface="Crimson Pro Bold" pitchFamily="34" charset="-120"/>
              </a:rPr>
              <a:t>3</a:t>
            </a:r>
            <a:endParaRPr lang="en-US" sz="2650" dirty="0"/>
          </a:p>
        </p:txBody>
      </p:sp>
      <p:sp>
        <p:nvSpPr>
          <p:cNvPr id="26" name="Text 21"/>
          <p:cNvSpPr/>
          <p:nvPr/>
        </p:nvSpPr>
        <p:spPr>
          <a:xfrm>
            <a:off x="10415111" y="5951101"/>
            <a:ext cx="3421499" cy="1062990"/>
          </a:xfrm>
          <a:prstGeom prst="rect">
            <a:avLst/>
          </a:prstGeom>
          <a:noFill/>
          <a:ln/>
        </p:spPr>
        <p:txBody>
          <a:bodyPr wrap="square" lIns="0" tIns="0" rIns="0" bIns="0" rtlCol="0" anchor="t"/>
          <a:lstStyle/>
          <a:p>
            <a:pPr algn="l" indent="0" marL="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Does PR size interact with author association to influence review time?</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075" y="623292"/>
            <a:ext cx="6279594" cy="566499"/>
          </a:xfrm>
          <a:prstGeom prst="rect">
            <a:avLst/>
          </a:prstGeom>
          <a:noFill/>
          <a:ln/>
        </p:spPr>
        <p:txBody>
          <a:bodyPr wrap="none" lIns="0" tIns="0" rIns="0" bIns="0" rtlCol="0" anchor="t"/>
          <a:lstStyle/>
          <a:p>
            <a:pPr algn="l" indent="0" marL="0">
              <a:lnSpc>
                <a:spcPts val="4450"/>
              </a:lnSpc>
              <a:buNone/>
            </a:pPr>
            <a:r>
              <a:rPr lang="en-US" sz="3550" b="1" dirty="0">
                <a:solidFill>
                  <a:srgbClr val="443728"/>
                </a:solidFill>
                <a:latin typeface="Crimson Pro Bold" pitchFamily="34" charset="0"/>
                <a:ea typeface="Crimson Pro Bold" pitchFamily="34" charset="-122"/>
                <a:cs typeface="Crimson Pro Bold" pitchFamily="34" charset="-120"/>
              </a:rPr>
              <a:t>Dataset and Analytical Approach</a:t>
            </a:r>
            <a:endParaRPr lang="en-US" sz="3550" dirty="0"/>
          </a:p>
        </p:txBody>
      </p:sp>
      <p:sp>
        <p:nvSpPr>
          <p:cNvPr id="3" name="Text 1"/>
          <p:cNvSpPr/>
          <p:nvPr/>
        </p:nvSpPr>
        <p:spPr>
          <a:xfrm>
            <a:off x="793075" y="1756291"/>
            <a:ext cx="3399234" cy="424815"/>
          </a:xfrm>
          <a:prstGeom prst="rect">
            <a:avLst/>
          </a:prstGeom>
          <a:noFill/>
          <a:ln/>
        </p:spPr>
        <p:txBody>
          <a:bodyPr wrap="none" lIns="0" tIns="0" rIns="0" bIns="0" rtlCol="0" anchor="t"/>
          <a:lstStyle/>
          <a:p>
            <a:pPr algn="l" indent="0" marL="0">
              <a:lnSpc>
                <a:spcPts val="3300"/>
              </a:lnSpc>
              <a:buNone/>
            </a:pPr>
            <a:r>
              <a:rPr lang="en-US" sz="2650" b="1" dirty="0">
                <a:solidFill>
                  <a:srgbClr val="443728"/>
                </a:solidFill>
                <a:latin typeface="Crimson Pro Bold" pitchFamily="34" charset="0"/>
                <a:ea typeface="Crimson Pro Bold" pitchFamily="34" charset="-122"/>
                <a:cs typeface="Crimson Pro Bold" pitchFamily="34" charset="-120"/>
              </a:rPr>
              <a:t>Dataset Overview</a:t>
            </a:r>
            <a:endParaRPr lang="en-US" sz="2650" dirty="0"/>
          </a:p>
        </p:txBody>
      </p:sp>
      <p:sp>
        <p:nvSpPr>
          <p:cNvPr id="4" name="Text 2"/>
          <p:cNvSpPr/>
          <p:nvPr/>
        </p:nvSpPr>
        <p:spPr>
          <a:xfrm>
            <a:off x="793075" y="2407682"/>
            <a:ext cx="6245662" cy="580073"/>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443728"/>
                </a:solidFill>
                <a:latin typeface="Open Sans" pitchFamily="34" charset="0"/>
                <a:ea typeface="Open Sans" pitchFamily="34" charset="-122"/>
                <a:cs typeface="Open Sans" pitchFamily="34" charset="-120"/>
              </a:rPr>
              <a:t>Public GitHub Pull Request (GHPR) dataset, focusing exclusively on merged PRs.</a:t>
            </a:r>
            <a:endParaRPr lang="en-US" sz="1750" dirty="0"/>
          </a:p>
        </p:txBody>
      </p:sp>
      <p:sp>
        <p:nvSpPr>
          <p:cNvPr id="5" name="Text 3"/>
          <p:cNvSpPr/>
          <p:nvPr/>
        </p:nvSpPr>
        <p:spPr>
          <a:xfrm>
            <a:off x="793075" y="3067050"/>
            <a:ext cx="6245662" cy="870109"/>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443728"/>
                </a:solidFill>
                <a:latin typeface="Open Sans" pitchFamily="34" charset="0"/>
                <a:ea typeface="Open Sans" pitchFamily="34" charset="-122"/>
                <a:cs typeface="Open Sans" pitchFamily="34" charset="-120"/>
              </a:rPr>
              <a:t>Key variables analysed include review time, various code size metrics (lines added/deleted, files changed), comment activity, and author association.</a:t>
            </a:r>
            <a:endParaRPr lang="en-US" sz="1750" dirty="0"/>
          </a:p>
        </p:txBody>
      </p:sp>
      <p:pic>
        <p:nvPicPr>
          <p:cNvPr id="6" name="Image 0" descr="preencoded.png">    </p:cNvPr>
          <p:cNvPicPr>
            <a:picLocks noChangeAspect="1"/>
          </p:cNvPicPr>
          <p:nvPr/>
        </p:nvPicPr>
        <p:blipFill>
          <a:blip r:embed="rId1"/>
          <a:stretch>
            <a:fillRect/>
          </a:stretch>
        </p:blipFill>
        <p:spPr>
          <a:xfrm>
            <a:off x="793075" y="4192072"/>
            <a:ext cx="6245662" cy="3159323"/>
          </a:xfrm>
          <a:prstGeom prst="rect">
            <a:avLst/>
          </a:prstGeom>
        </p:spPr>
      </p:pic>
      <p:pic>
        <p:nvPicPr>
          <p:cNvPr id="7" name="Image 1" descr="preencoded.png">    </p:cNvPr>
          <p:cNvPicPr>
            <a:picLocks noChangeAspect="1"/>
          </p:cNvPicPr>
          <p:nvPr/>
        </p:nvPicPr>
        <p:blipFill>
          <a:blip r:embed="rId2"/>
          <a:stretch>
            <a:fillRect/>
          </a:stretch>
        </p:blipFill>
        <p:spPr>
          <a:xfrm>
            <a:off x="7599283" y="1784628"/>
            <a:ext cx="6245662" cy="849630"/>
          </a:xfrm>
          <a:prstGeom prst="rect">
            <a:avLst/>
          </a:prstGeom>
        </p:spPr>
      </p:pic>
      <p:sp>
        <p:nvSpPr>
          <p:cNvPr id="8" name="Text 4"/>
          <p:cNvSpPr/>
          <p:nvPr/>
        </p:nvSpPr>
        <p:spPr>
          <a:xfrm>
            <a:off x="7599283" y="2889171"/>
            <a:ext cx="6245662" cy="362426"/>
          </a:xfrm>
          <a:prstGeom prst="rect">
            <a:avLst/>
          </a:prstGeom>
          <a:noFill/>
          <a:ln/>
        </p:spPr>
        <p:txBody>
          <a:bodyPr wrap="none" lIns="0" tIns="0" rIns="0" bIns="0" rtlCol="0" anchor="t"/>
          <a:lstStyle/>
          <a:p>
            <a:pPr algn="l" indent="0" marL="0">
              <a:lnSpc>
                <a:spcPts val="2850"/>
              </a:lnSpc>
              <a:buNone/>
            </a:pPr>
            <a:endParaRPr lang="en-US" sz="1750" dirty="0"/>
          </a:p>
        </p:txBody>
      </p:sp>
      <p:sp>
        <p:nvSpPr>
          <p:cNvPr id="9" name="Text 5"/>
          <p:cNvSpPr/>
          <p:nvPr/>
        </p:nvSpPr>
        <p:spPr>
          <a:xfrm>
            <a:off x="7599283" y="3478173"/>
            <a:ext cx="3399234" cy="424815"/>
          </a:xfrm>
          <a:prstGeom prst="rect">
            <a:avLst/>
          </a:prstGeom>
          <a:noFill/>
          <a:ln/>
        </p:spPr>
        <p:txBody>
          <a:bodyPr wrap="none" lIns="0" tIns="0" rIns="0" bIns="0" rtlCol="0" anchor="t"/>
          <a:lstStyle/>
          <a:p>
            <a:pPr algn="l" indent="0" marL="0">
              <a:lnSpc>
                <a:spcPts val="3300"/>
              </a:lnSpc>
              <a:buNone/>
            </a:pPr>
            <a:r>
              <a:rPr lang="en-US" sz="2650" b="1" dirty="0">
                <a:solidFill>
                  <a:srgbClr val="443728"/>
                </a:solidFill>
                <a:latin typeface="Crimson Pro Bold" pitchFamily="34" charset="0"/>
                <a:ea typeface="Crimson Pro Bold" pitchFamily="34" charset="-122"/>
                <a:cs typeface="Crimson Pro Bold" pitchFamily="34" charset="-120"/>
              </a:rPr>
              <a:t>Methods Utilised</a:t>
            </a:r>
            <a:endParaRPr lang="en-US" sz="2650" dirty="0"/>
          </a:p>
        </p:txBody>
      </p:sp>
      <p:sp>
        <p:nvSpPr>
          <p:cNvPr id="10" name="Text 6"/>
          <p:cNvSpPr/>
          <p:nvPr/>
        </p:nvSpPr>
        <p:spPr>
          <a:xfrm>
            <a:off x="7599283" y="4129564"/>
            <a:ext cx="6245662" cy="580073"/>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443728"/>
                </a:solidFill>
                <a:latin typeface="Open Sans" pitchFamily="34" charset="0"/>
                <a:ea typeface="Open Sans" pitchFamily="34" charset="-122"/>
                <a:cs typeface="Open Sans" pitchFamily="34" charset="-120"/>
              </a:rPr>
              <a:t>Multiple Linear Regression:</a:t>
            </a:r>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 Employed to assess continuous predictors of PR review time.</a:t>
            </a:r>
            <a:endParaRPr lang="en-US" sz="1750" dirty="0"/>
          </a:p>
        </p:txBody>
      </p:sp>
      <p:sp>
        <p:nvSpPr>
          <p:cNvPr id="11" name="Text 7"/>
          <p:cNvSpPr/>
          <p:nvPr/>
        </p:nvSpPr>
        <p:spPr>
          <a:xfrm>
            <a:off x="7599283" y="4788932"/>
            <a:ext cx="6245662" cy="580073"/>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443728"/>
                </a:solidFill>
                <a:latin typeface="Open Sans" pitchFamily="34" charset="0"/>
                <a:ea typeface="Open Sans" pitchFamily="34" charset="-122"/>
                <a:cs typeface="Open Sans" pitchFamily="34" charset="-120"/>
              </a:rPr>
              <a:t>One-Way ANOVA:</a:t>
            </a:r>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 Used to compare review times between different author groups (Contributors vs. Members).</a:t>
            </a:r>
            <a:endParaRPr lang="en-US" sz="1750" dirty="0"/>
          </a:p>
        </p:txBody>
      </p:sp>
      <p:sp>
        <p:nvSpPr>
          <p:cNvPr id="12" name="Text 8"/>
          <p:cNvSpPr/>
          <p:nvPr/>
        </p:nvSpPr>
        <p:spPr>
          <a:xfrm>
            <a:off x="7599283" y="5448300"/>
            <a:ext cx="6245662" cy="580073"/>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443728"/>
                </a:solidFill>
                <a:latin typeface="Open Sans" pitchFamily="34" charset="0"/>
                <a:ea typeface="Open Sans" pitchFamily="34" charset="-122"/>
                <a:cs typeface="Open Sans" pitchFamily="34" charset="-120"/>
              </a:rPr>
              <a:t>Two-Way ANOVA:</a:t>
            </a:r>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 Applied to investigate the combined effects of PR size and author association on review time.</a:t>
            </a:r>
            <a:endParaRPr lang="en-US" sz="1750" dirty="0"/>
          </a:p>
        </p:txBody>
      </p:sp>
      <p:sp>
        <p:nvSpPr>
          <p:cNvPr id="13" name="Text 9"/>
          <p:cNvSpPr/>
          <p:nvPr/>
        </p:nvSpPr>
        <p:spPr>
          <a:xfrm>
            <a:off x="7599283" y="6232327"/>
            <a:ext cx="6245662" cy="580073"/>
          </a:xfrm>
          <a:prstGeom prst="rect">
            <a:avLst/>
          </a:prstGeom>
          <a:noFill/>
          <a:ln/>
        </p:spPr>
        <p:txBody>
          <a:bodyPr wrap="square" lIns="0" tIns="0" rIns="0" bIns="0" rtlCol="0" anchor="t"/>
          <a:lstStyle/>
          <a:p>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This methodological approach ensures both individual variable effects and complex interaction patterns are thoroughly examined.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71644" y="606266"/>
            <a:ext cx="6481167" cy="551259"/>
          </a:xfrm>
          <a:prstGeom prst="rect">
            <a:avLst/>
          </a:prstGeom>
          <a:noFill/>
          <a:ln/>
        </p:spPr>
        <p:txBody>
          <a:bodyPr wrap="none" lIns="0" tIns="0" rIns="0" bIns="0" rtlCol="0" anchor="t"/>
          <a:lstStyle/>
          <a:p>
            <a:pPr algn="l" indent="0" marL="0">
              <a:lnSpc>
                <a:spcPts val="4300"/>
              </a:lnSpc>
              <a:buNone/>
            </a:pPr>
            <a:r>
              <a:rPr lang="en-US" sz="3450" b="1" dirty="0">
                <a:solidFill>
                  <a:srgbClr val="443728"/>
                </a:solidFill>
                <a:latin typeface="Crimson Pro Bold" pitchFamily="34" charset="0"/>
                <a:ea typeface="Crimson Pro Bold" pitchFamily="34" charset="-122"/>
                <a:cs typeface="Crimson Pro Bold" pitchFamily="34" charset="-120"/>
              </a:rPr>
              <a:t>Multiple Linear Regression Results</a:t>
            </a:r>
            <a:endParaRPr lang="en-US" sz="3450" dirty="0"/>
          </a:p>
        </p:txBody>
      </p:sp>
      <p:pic>
        <p:nvPicPr>
          <p:cNvPr id="3" name="Image 0" descr="preencoded.png">    </p:cNvPr>
          <p:cNvPicPr>
            <a:picLocks noChangeAspect="1"/>
          </p:cNvPicPr>
          <p:nvPr/>
        </p:nvPicPr>
        <p:blipFill>
          <a:blip r:embed="rId1"/>
          <a:stretch>
            <a:fillRect/>
          </a:stretch>
        </p:blipFill>
        <p:spPr>
          <a:xfrm>
            <a:off x="771644" y="1736169"/>
            <a:ext cx="6955750" cy="3245406"/>
          </a:xfrm>
          <a:prstGeom prst="rect">
            <a:avLst/>
          </a:prstGeom>
        </p:spPr>
      </p:pic>
      <p:pic>
        <p:nvPicPr>
          <p:cNvPr id="4" name="Image 1" descr="preencoded.png">    </p:cNvPr>
          <p:cNvPicPr>
            <a:picLocks noChangeAspect="1"/>
          </p:cNvPicPr>
          <p:nvPr/>
        </p:nvPicPr>
        <p:blipFill>
          <a:blip r:embed="rId2"/>
          <a:stretch>
            <a:fillRect/>
          </a:stretch>
        </p:blipFill>
        <p:spPr>
          <a:xfrm>
            <a:off x="1885236" y="5229582"/>
            <a:ext cx="4728448" cy="2187178"/>
          </a:xfrm>
          <a:prstGeom prst="rect">
            <a:avLst/>
          </a:prstGeom>
        </p:spPr>
      </p:pic>
      <p:sp>
        <p:nvSpPr>
          <p:cNvPr id="5" name="Text 1"/>
          <p:cNvSpPr/>
          <p:nvPr/>
        </p:nvSpPr>
        <p:spPr>
          <a:xfrm>
            <a:off x="8272939" y="1708547"/>
            <a:ext cx="3307437" cy="413385"/>
          </a:xfrm>
          <a:prstGeom prst="rect">
            <a:avLst/>
          </a:prstGeom>
          <a:noFill/>
          <a:ln/>
        </p:spPr>
        <p:txBody>
          <a:bodyPr wrap="none" lIns="0" tIns="0" rIns="0" bIns="0" rtlCol="0" anchor="t"/>
          <a:lstStyle/>
          <a:p>
            <a:pPr algn="l" indent="0" marL="0">
              <a:lnSpc>
                <a:spcPts val="3250"/>
              </a:lnSpc>
              <a:buNone/>
            </a:pPr>
            <a:r>
              <a:rPr lang="en-US" sz="2600" b="1" dirty="0">
                <a:solidFill>
                  <a:srgbClr val="443728"/>
                </a:solidFill>
                <a:latin typeface="Crimson Pro Bold" pitchFamily="34" charset="0"/>
                <a:ea typeface="Crimson Pro Bold" pitchFamily="34" charset="-122"/>
                <a:cs typeface="Crimson Pro Bold" pitchFamily="34" charset="-120"/>
              </a:rPr>
              <a:t>Key Findings</a:t>
            </a:r>
            <a:endParaRPr lang="en-US" sz="2600" dirty="0"/>
          </a:p>
        </p:txBody>
      </p:sp>
      <p:sp>
        <p:nvSpPr>
          <p:cNvPr id="6" name="Text 2"/>
          <p:cNvSpPr/>
          <p:nvPr/>
        </p:nvSpPr>
        <p:spPr>
          <a:xfrm>
            <a:off x="8272939" y="2342317"/>
            <a:ext cx="5593318" cy="564594"/>
          </a:xfrm>
          <a:prstGeom prst="rect">
            <a:avLst/>
          </a:prstGeom>
          <a:noFill/>
          <a:ln/>
        </p:spPr>
        <p:txBody>
          <a:bodyPr wrap="square" lIns="0" tIns="0" rIns="0" bIns="0" rtlCol="0" anchor="t"/>
          <a:lstStyle/>
          <a:p>
            <a:pPr algn="l" marL="342900" indent="-342900">
              <a:lnSpc>
                <a:spcPts val="2750"/>
              </a:lnSpc>
              <a:buSzPct val="100000"/>
              <a:buChar char="•"/>
            </a:pPr>
            <a:r>
              <a:rPr lang="en-US" sz="1700" dirty="0">
                <a:solidFill>
                  <a:srgbClr val="443728"/>
                </a:solidFill>
                <a:latin typeface="Open Sans" pitchFamily="34" charset="0"/>
                <a:ea typeface="Open Sans" pitchFamily="34" charset="-122"/>
                <a:cs typeface="Open Sans" pitchFamily="34" charset="-120"/>
              </a:rPr>
              <a:t>Total comments are the strongest and statistically significant predictor of PR review time.</a:t>
            </a:r>
            <a:endParaRPr lang="en-US" sz="1700" dirty="0"/>
          </a:p>
        </p:txBody>
      </p:sp>
      <p:sp>
        <p:nvSpPr>
          <p:cNvPr id="7" name="Text 3"/>
          <p:cNvSpPr/>
          <p:nvPr/>
        </p:nvSpPr>
        <p:spPr>
          <a:xfrm>
            <a:off x="8272939" y="2984063"/>
            <a:ext cx="5593318" cy="564594"/>
          </a:xfrm>
          <a:prstGeom prst="rect">
            <a:avLst/>
          </a:prstGeom>
          <a:noFill/>
          <a:ln/>
        </p:spPr>
        <p:txBody>
          <a:bodyPr wrap="square" lIns="0" tIns="0" rIns="0" bIns="0" rtlCol="0" anchor="t"/>
          <a:lstStyle/>
          <a:p>
            <a:pPr algn="l" marL="342900" indent="-342900">
              <a:lnSpc>
                <a:spcPts val="2750"/>
              </a:lnSpc>
              <a:buSzPct val="100000"/>
              <a:buChar char="•"/>
            </a:pPr>
            <a:r>
              <a:rPr lang="en-US" sz="1700" dirty="0">
                <a:solidFill>
                  <a:srgbClr val="443728"/>
                </a:solidFill>
                <a:latin typeface="Open Sans" pitchFamily="34" charset="0"/>
                <a:ea typeface="Open Sans" pitchFamily="34" charset="-122"/>
                <a:cs typeface="Open Sans" pitchFamily="34" charset="-120"/>
              </a:rPr>
              <a:t>Increased discussion activity is associated with longer review durations.</a:t>
            </a:r>
            <a:endParaRPr lang="en-US" sz="1700" dirty="0"/>
          </a:p>
        </p:txBody>
      </p:sp>
      <p:sp>
        <p:nvSpPr>
          <p:cNvPr id="8" name="Text 4"/>
          <p:cNvSpPr/>
          <p:nvPr/>
        </p:nvSpPr>
        <p:spPr>
          <a:xfrm>
            <a:off x="8272939" y="3625810"/>
            <a:ext cx="5593318" cy="846892"/>
          </a:xfrm>
          <a:prstGeom prst="rect">
            <a:avLst/>
          </a:prstGeom>
          <a:noFill/>
          <a:ln/>
        </p:spPr>
        <p:txBody>
          <a:bodyPr wrap="square" lIns="0" tIns="0" rIns="0" bIns="0" rtlCol="0" anchor="t"/>
          <a:lstStyle/>
          <a:p>
            <a:pPr algn="l" marL="342900" indent="-342900">
              <a:lnSpc>
                <a:spcPts val="2750"/>
              </a:lnSpc>
              <a:buSzPct val="100000"/>
              <a:buChar char="•"/>
            </a:pPr>
            <a:r>
              <a:rPr lang="en-US" sz="1700" dirty="0">
                <a:solidFill>
                  <a:srgbClr val="443728"/>
                </a:solidFill>
                <a:latin typeface="Open Sans" pitchFamily="34" charset="0"/>
                <a:ea typeface="Open Sans" pitchFamily="34" charset="-122"/>
                <a:cs typeface="Open Sans" pitchFamily="34" charset="-120"/>
              </a:rPr>
              <a:t>Code size metrics (lines added, lines deleted, files changed) are not statistically significant once comment activity is controlled for.</a:t>
            </a:r>
            <a:endParaRPr lang="en-US" sz="1700" dirty="0"/>
          </a:p>
        </p:txBody>
      </p:sp>
      <p:pic>
        <p:nvPicPr>
          <p:cNvPr id="9" name="Image 2" descr="preencoded.png">    </p:cNvPr>
          <p:cNvPicPr>
            <a:picLocks noChangeAspect="1"/>
          </p:cNvPicPr>
          <p:nvPr/>
        </p:nvPicPr>
        <p:blipFill>
          <a:blip r:embed="rId3"/>
          <a:stretch>
            <a:fillRect/>
          </a:stretch>
        </p:blipFill>
        <p:spPr>
          <a:xfrm>
            <a:off x="8272939" y="4720709"/>
            <a:ext cx="5404366" cy="464701"/>
          </a:xfrm>
          <a:prstGeom prst="rect">
            <a:avLst/>
          </a:prstGeom>
        </p:spPr>
      </p:pic>
      <p:pic>
        <p:nvPicPr>
          <p:cNvPr id="10" name="Image 3" descr="preencoded.png">    </p:cNvPr>
          <p:cNvPicPr>
            <a:picLocks noChangeAspect="1"/>
          </p:cNvPicPr>
          <p:nvPr/>
        </p:nvPicPr>
        <p:blipFill>
          <a:blip r:embed="rId4"/>
          <a:stretch>
            <a:fillRect/>
          </a:stretch>
        </p:blipFill>
        <p:spPr>
          <a:xfrm>
            <a:off x="8272939" y="5433417"/>
            <a:ext cx="5593318" cy="1169789"/>
          </a:xfrm>
          <a:prstGeom prst="rect">
            <a:avLst/>
          </a:prstGeom>
        </p:spPr>
      </p:pic>
      <p:sp>
        <p:nvSpPr>
          <p:cNvPr id="11" name="Text 5"/>
          <p:cNvSpPr/>
          <p:nvPr/>
        </p:nvSpPr>
        <p:spPr>
          <a:xfrm>
            <a:off x="8603575" y="6851213"/>
            <a:ext cx="5262682" cy="564594"/>
          </a:xfrm>
          <a:prstGeom prst="rect">
            <a:avLst/>
          </a:prstGeom>
          <a:noFill/>
          <a:ln/>
        </p:spPr>
        <p:txBody>
          <a:bodyPr wrap="square" lIns="0" tIns="0" rIns="0" bIns="0" rtlCol="0" anchor="t"/>
          <a:lstStyle/>
          <a:p>
            <a:pPr algn="l" indent="0" marL="0">
              <a:lnSpc>
                <a:spcPts val="2200"/>
              </a:lnSpc>
              <a:buNone/>
            </a:pPr>
            <a:r>
              <a:rPr lang="en-US" sz="1350" dirty="0">
                <a:solidFill>
                  <a:srgbClr val="BE6841"/>
                </a:solidFill>
                <a:latin typeface="Open Sans" pitchFamily="34" charset="0"/>
                <a:ea typeface="Open Sans" pitchFamily="34" charset="-122"/>
                <a:cs typeface="Open Sans" pitchFamily="34" charset="-120"/>
              </a:rPr>
              <a:t>Insight:</a:t>
            </a:r>
            <a:pPr algn="l" indent="0" marL="0">
              <a:lnSpc>
                <a:spcPts val="2200"/>
              </a:lnSpc>
              <a:buNone/>
            </a:pPr>
            <a:r>
              <a:rPr lang="en-US" sz="1350" dirty="0">
                <a:solidFill>
                  <a:srgbClr val="443728"/>
                </a:solidFill>
                <a:latin typeface="Open Sans" pitchFamily="34" charset="0"/>
                <a:ea typeface="Open Sans" pitchFamily="34" charset="-122"/>
                <a:cs typeface="Open Sans" pitchFamily="34" charset="-120"/>
              </a:rPr>
              <a:t> Collaboration intensity has a greater impact on review time than the volume of code changes.</a:t>
            </a:r>
            <a:endParaRPr lang="en-US" sz="1350" dirty="0"/>
          </a:p>
        </p:txBody>
      </p:sp>
      <p:sp>
        <p:nvSpPr>
          <p:cNvPr id="12" name="Shape 6"/>
          <p:cNvSpPr/>
          <p:nvPr/>
        </p:nvSpPr>
        <p:spPr>
          <a:xfrm>
            <a:off x="8272939" y="6851213"/>
            <a:ext cx="30480" cy="564594"/>
          </a:xfrm>
          <a:prstGeom prst="rect">
            <a:avLst/>
          </a:prstGeom>
          <a:solidFill>
            <a:srgbClr val="835E54"/>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23662" y="625793"/>
            <a:ext cx="4357211" cy="516969"/>
          </a:xfrm>
          <a:prstGeom prst="rect">
            <a:avLst/>
          </a:prstGeom>
          <a:noFill/>
          <a:ln/>
        </p:spPr>
        <p:txBody>
          <a:bodyPr wrap="none" lIns="0" tIns="0" rIns="0" bIns="0" rtlCol="0" anchor="t"/>
          <a:lstStyle/>
          <a:p>
            <a:pPr algn="l" indent="0" marL="0">
              <a:lnSpc>
                <a:spcPts val="4050"/>
              </a:lnSpc>
              <a:buNone/>
            </a:pPr>
            <a:r>
              <a:rPr lang="en-US" sz="3250" b="1" dirty="0">
                <a:solidFill>
                  <a:srgbClr val="443728"/>
                </a:solidFill>
                <a:latin typeface="Crimson Pro Bold" pitchFamily="34" charset="0"/>
                <a:ea typeface="Crimson Pro Bold" pitchFamily="34" charset="-122"/>
                <a:cs typeface="Crimson Pro Bold" pitchFamily="34" charset="-120"/>
              </a:rPr>
              <a:t>One-Way ANOVA Results</a:t>
            </a:r>
            <a:endParaRPr lang="en-US" sz="3250" dirty="0"/>
          </a:p>
        </p:txBody>
      </p:sp>
      <p:pic>
        <p:nvPicPr>
          <p:cNvPr id="3" name="Image 0" descr="preencoded.png">    </p:cNvPr>
          <p:cNvPicPr>
            <a:picLocks noChangeAspect="1"/>
          </p:cNvPicPr>
          <p:nvPr/>
        </p:nvPicPr>
        <p:blipFill>
          <a:blip r:embed="rId1"/>
          <a:stretch>
            <a:fillRect/>
          </a:stretch>
        </p:blipFill>
        <p:spPr>
          <a:xfrm>
            <a:off x="723662" y="1685449"/>
            <a:ext cx="5654993" cy="2615803"/>
          </a:xfrm>
          <a:prstGeom prst="rect">
            <a:avLst/>
          </a:prstGeom>
        </p:spPr>
      </p:pic>
      <p:pic>
        <p:nvPicPr>
          <p:cNvPr id="4" name="Image 1" descr="preencoded.png">    </p:cNvPr>
          <p:cNvPicPr>
            <a:picLocks noChangeAspect="1"/>
          </p:cNvPicPr>
          <p:nvPr/>
        </p:nvPicPr>
        <p:blipFill>
          <a:blip r:embed="rId2"/>
          <a:stretch>
            <a:fillRect/>
          </a:stretch>
        </p:blipFill>
        <p:spPr>
          <a:xfrm>
            <a:off x="1782008" y="4533781"/>
            <a:ext cx="3538299" cy="2640211"/>
          </a:xfrm>
          <a:prstGeom prst="rect">
            <a:avLst/>
          </a:prstGeom>
        </p:spPr>
      </p:pic>
      <p:pic>
        <p:nvPicPr>
          <p:cNvPr id="5" name="Image 2" descr="preencoded.png">    </p:cNvPr>
          <p:cNvPicPr>
            <a:picLocks noChangeAspect="1"/>
          </p:cNvPicPr>
          <p:nvPr/>
        </p:nvPicPr>
        <p:blipFill>
          <a:blip r:embed="rId3"/>
          <a:stretch>
            <a:fillRect/>
          </a:stretch>
        </p:blipFill>
        <p:spPr>
          <a:xfrm>
            <a:off x="8334613" y="1685449"/>
            <a:ext cx="4135636" cy="1375410"/>
          </a:xfrm>
          <a:prstGeom prst="rect">
            <a:avLst/>
          </a:prstGeom>
        </p:spPr>
      </p:pic>
      <p:pic>
        <p:nvPicPr>
          <p:cNvPr id="6" name="Image 3" descr="preencoded.png">    </p:cNvPr>
          <p:cNvPicPr>
            <a:picLocks noChangeAspect="1"/>
          </p:cNvPicPr>
          <p:nvPr/>
        </p:nvPicPr>
        <p:blipFill>
          <a:blip r:embed="rId4"/>
          <a:stretch>
            <a:fillRect/>
          </a:stretch>
        </p:blipFill>
        <p:spPr>
          <a:xfrm>
            <a:off x="8667750" y="3293388"/>
            <a:ext cx="3469362" cy="706874"/>
          </a:xfrm>
          <a:prstGeom prst="rect">
            <a:avLst/>
          </a:prstGeom>
        </p:spPr>
      </p:pic>
      <p:pic>
        <p:nvPicPr>
          <p:cNvPr id="7" name="Image 4" descr="preencoded.png">    </p:cNvPr>
          <p:cNvPicPr>
            <a:picLocks noChangeAspect="1"/>
          </p:cNvPicPr>
          <p:nvPr/>
        </p:nvPicPr>
        <p:blipFill>
          <a:blip r:embed="rId5"/>
          <a:stretch>
            <a:fillRect/>
          </a:stretch>
        </p:blipFill>
        <p:spPr>
          <a:xfrm>
            <a:off x="9937194" y="4232791"/>
            <a:ext cx="930473" cy="347186"/>
          </a:xfrm>
          <a:prstGeom prst="rect">
            <a:avLst/>
          </a:prstGeom>
        </p:spPr>
      </p:pic>
      <p:sp>
        <p:nvSpPr>
          <p:cNvPr id="8" name="Text 1"/>
          <p:cNvSpPr/>
          <p:nvPr/>
        </p:nvSpPr>
        <p:spPr>
          <a:xfrm>
            <a:off x="6890623" y="4812506"/>
            <a:ext cx="3101697" cy="387668"/>
          </a:xfrm>
          <a:prstGeom prst="rect">
            <a:avLst/>
          </a:prstGeom>
          <a:noFill/>
          <a:ln/>
        </p:spPr>
        <p:txBody>
          <a:bodyPr wrap="none" lIns="0" tIns="0" rIns="0" bIns="0" rtlCol="0" anchor="t"/>
          <a:lstStyle/>
          <a:p>
            <a:pPr algn="l" indent="0" marL="0">
              <a:lnSpc>
                <a:spcPts val="3050"/>
              </a:lnSpc>
              <a:buNone/>
            </a:pPr>
            <a:r>
              <a:rPr lang="en-US" sz="2400" b="1" dirty="0">
                <a:solidFill>
                  <a:srgbClr val="443728"/>
                </a:solidFill>
                <a:latin typeface="Crimson Pro Bold" pitchFamily="34" charset="0"/>
                <a:ea typeface="Crimson Pro Bold" pitchFamily="34" charset="-122"/>
                <a:cs typeface="Crimson Pro Bold" pitchFamily="34" charset="-120"/>
              </a:rPr>
              <a:t>Key Findings</a:t>
            </a:r>
            <a:endParaRPr lang="en-US" sz="2400" dirty="0"/>
          </a:p>
        </p:txBody>
      </p:sp>
      <p:sp>
        <p:nvSpPr>
          <p:cNvPr id="9" name="Text 2"/>
          <p:cNvSpPr/>
          <p:nvPr/>
        </p:nvSpPr>
        <p:spPr>
          <a:xfrm>
            <a:off x="6890623" y="5406866"/>
            <a:ext cx="7023735" cy="529114"/>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443728"/>
                </a:solidFill>
                <a:latin typeface="Open Sans" pitchFamily="34" charset="0"/>
                <a:ea typeface="Open Sans" pitchFamily="34" charset="-122"/>
                <a:cs typeface="Open Sans" pitchFamily="34" charset="-120"/>
              </a:rPr>
              <a:t>No statistically significant difference in mean log review time between Contributors and Members (ANOVA: F(1, 7748), p = 0.258).</a:t>
            </a:r>
            <a:endParaRPr lang="en-US" sz="1600" dirty="0"/>
          </a:p>
        </p:txBody>
      </p:sp>
      <p:sp>
        <p:nvSpPr>
          <p:cNvPr id="10" name="Text 3"/>
          <p:cNvSpPr/>
          <p:nvPr/>
        </p:nvSpPr>
        <p:spPr>
          <a:xfrm>
            <a:off x="6890623" y="6008251"/>
            <a:ext cx="7023735" cy="264557"/>
          </a:xfrm>
          <a:prstGeom prst="rect">
            <a:avLst/>
          </a:prstGeom>
          <a:noFill/>
          <a:ln/>
        </p:spPr>
        <p:txBody>
          <a:bodyPr wrap="none" lIns="0" tIns="0" rIns="0" bIns="0" rtlCol="0" anchor="t"/>
          <a:lstStyle/>
          <a:p>
            <a:pPr algn="l" marL="342900" indent="-342900">
              <a:lnSpc>
                <a:spcPts val="2600"/>
              </a:lnSpc>
              <a:buSzPct val="100000"/>
              <a:buChar char="•"/>
            </a:pPr>
            <a:r>
              <a:rPr lang="en-US" sz="1600" dirty="0">
                <a:solidFill>
                  <a:srgbClr val="443728"/>
                </a:solidFill>
                <a:latin typeface="Open Sans" pitchFamily="34" charset="0"/>
                <a:ea typeface="Open Sans" pitchFamily="34" charset="-122"/>
                <a:cs typeface="Open Sans" pitchFamily="34" charset="-120"/>
              </a:rPr>
              <a:t>Effect size is extremely small (η² ≈ 0.00016), indicating a negligible practical impact.</a:t>
            </a:r>
            <a:endParaRPr lang="en-US" sz="1600" dirty="0"/>
          </a:p>
        </p:txBody>
      </p:sp>
      <p:sp>
        <p:nvSpPr>
          <p:cNvPr id="11" name="Text 4"/>
          <p:cNvSpPr/>
          <p:nvPr/>
        </p:nvSpPr>
        <p:spPr>
          <a:xfrm>
            <a:off x="6890623" y="6345079"/>
            <a:ext cx="7023735" cy="529114"/>
          </a:xfrm>
          <a:prstGeom prst="rect">
            <a:avLst/>
          </a:prstGeom>
          <a:noFill/>
          <a:ln/>
        </p:spPr>
        <p:txBody>
          <a:bodyPr wrap="square" lIns="0" tIns="0" rIns="0" bIns="0" rtlCol="0" anchor="t"/>
          <a:lstStyle/>
          <a:p>
            <a:pPr algn="l" marL="342900" indent="-342900">
              <a:lnSpc>
                <a:spcPts val="2600"/>
              </a:lnSpc>
              <a:buSzPct val="100000"/>
              <a:buChar char="•"/>
            </a:pPr>
            <a:r>
              <a:rPr lang="en-US" sz="1600" dirty="0">
                <a:solidFill>
                  <a:srgbClr val="443728"/>
                </a:solidFill>
                <a:latin typeface="Open Sans" pitchFamily="34" charset="0"/>
                <a:ea typeface="Open Sans" pitchFamily="34" charset="-122"/>
                <a:cs typeface="Open Sans" pitchFamily="34" charset="-120"/>
              </a:rPr>
              <a:t>Tukey’s HSD showed no meaningful group differences, with both groups assigned the same comparison category.</a:t>
            </a:r>
            <a:endParaRPr lang="en-US" sz="1600" dirty="0"/>
          </a:p>
        </p:txBody>
      </p:sp>
      <p:sp>
        <p:nvSpPr>
          <p:cNvPr id="12" name="Text 5"/>
          <p:cNvSpPr/>
          <p:nvPr/>
        </p:nvSpPr>
        <p:spPr>
          <a:xfrm>
            <a:off x="7200781" y="7106722"/>
            <a:ext cx="6713577" cy="264557"/>
          </a:xfrm>
          <a:prstGeom prst="rect">
            <a:avLst/>
          </a:prstGeom>
          <a:noFill/>
          <a:ln/>
        </p:spPr>
        <p:txBody>
          <a:bodyPr wrap="none" lIns="0" tIns="0" rIns="0" bIns="0" rtlCol="0" anchor="t"/>
          <a:lstStyle/>
          <a:p>
            <a:pPr algn="l" indent="0" marL="0">
              <a:lnSpc>
                <a:spcPts val="2050"/>
              </a:lnSpc>
              <a:buNone/>
            </a:pPr>
            <a:r>
              <a:rPr lang="en-US" sz="1300" dirty="0">
                <a:solidFill>
                  <a:srgbClr val="BE6841"/>
                </a:solidFill>
                <a:latin typeface="Open Sans" pitchFamily="34" charset="0"/>
                <a:ea typeface="Open Sans" pitchFamily="34" charset="-122"/>
                <a:cs typeface="Open Sans" pitchFamily="34" charset="-120"/>
              </a:rPr>
              <a:t>Insight:</a:t>
            </a:r>
            <a:pPr algn="l" indent="0" marL="0">
              <a:lnSpc>
                <a:spcPts val="2050"/>
              </a:lnSpc>
              <a:buNone/>
            </a:pPr>
            <a:r>
              <a:rPr lang="en-US" sz="1300" dirty="0">
                <a:solidFill>
                  <a:srgbClr val="443728"/>
                </a:solidFill>
                <a:latin typeface="Open Sans" pitchFamily="34" charset="0"/>
                <a:ea typeface="Open Sans" pitchFamily="34" charset="-122"/>
                <a:cs typeface="Open Sans" pitchFamily="34" charset="-120"/>
              </a:rPr>
              <a:t> Author association alone does not meaningfully influence PR review time.</a:t>
            </a:r>
            <a:endParaRPr lang="en-US" sz="1300" dirty="0"/>
          </a:p>
        </p:txBody>
      </p:sp>
      <p:sp>
        <p:nvSpPr>
          <p:cNvPr id="13" name="Shape 6"/>
          <p:cNvSpPr/>
          <p:nvPr/>
        </p:nvSpPr>
        <p:spPr>
          <a:xfrm>
            <a:off x="6890623" y="7106722"/>
            <a:ext cx="22860" cy="264557"/>
          </a:xfrm>
          <a:prstGeom prst="rect">
            <a:avLst/>
          </a:prstGeom>
          <a:solidFill>
            <a:srgbClr val="835E54"/>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2820" y="512921"/>
            <a:ext cx="3994785" cy="466249"/>
          </a:xfrm>
          <a:prstGeom prst="rect">
            <a:avLst/>
          </a:prstGeom>
          <a:noFill/>
          <a:ln/>
        </p:spPr>
        <p:txBody>
          <a:bodyPr wrap="none" lIns="0" tIns="0" rIns="0" bIns="0" rtlCol="0" anchor="t"/>
          <a:lstStyle/>
          <a:p>
            <a:pPr algn="l" indent="0" marL="0">
              <a:lnSpc>
                <a:spcPts val="3650"/>
              </a:lnSpc>
              <a:buNone/>
            </a:pPr>
            <a:r>
              <a:rPr lang="en-US" sz="2900" b="1" dirty="0">
                <a:solidFill>
                  <a:srgbClr val="443728"/>
                </a:solidFill>
                <a:latin typeface="Crimson Pro Bold" pitchFamily="34" charset="0"/>
                <a:ea typeface="Crimson Pro Bold" pitchFamily="34" charset="-122"/>
                <a:cs typeface="Crimson Pro Bold" pitchFamily="34" charset="-120"/>
              </a:rPr>
              <a:t>Two-Way ANOVA Results</a:t>
            </a:r>
            <a:endParaRPr lang="en-US" sz="2900" dirty="0"/>
          </a:p>
        </p:txBody>
      </p:sp>
      <p:pic>
        <p:nvPicPr>
          <p:cNvPr id="3" name="Image 0" descr="preencoded.png">    </p:cNvPr>
          <p:cNvPicPr>
            <a:picLocks noChangeAspect="1"/>
          </p:cNvPicPr>
          <p:nvPr/>
        </p:nvPicPr>
        <p:blipFill>
          <a:blip r:embed="rId1"/>
          <a:stretch>
            <a:fillRect/>
          </a:stretch>
        </p:blipFill>
        <p:spPr>
          <a:xfrm>
            <a:off x="2192298" y="1468755"/>
            <a:ext cx="3906917" cy="2597706"/>
          </a:xfrm>
          <a:prstGeom prst="rect">
            <a:avLst/>
          </a:prstGeom>
        </p:spPr>
      </p:pic>
      <p:pic>
        <p:nvPicPr>
          <p:cNvPr id="4" name="Image 1" descr="preencoded.png">    </p:cNvPr>
          <p:cNvPicPr>
            <a:picLocks noChangeAspect="1"/>
          </p:cNvPicPr>
          <p:nvPr/>
        </p:nvPicPr>
        <p:blipFill>
          <a:blip r:embed="rId2"/>
          <a:stretch>
            <a:fillRect/>
          </a:stretch>
        </p:blipFill>
        <p:spPr>
          <a:xfrm>
            <a:off x="652820" y="4276249"/>
            <a:ext cx="6842046" cy="1576507"/>
          </a:xfrm>
          <a:prstGeom prst="rect">
            <a:avLst/>
          </a:prstGeom>
        </p:spPr>
      </p:pic>
      <p:pic>
        <p:nvPicPr>
          <p:cNvPr id="5" name="Image 2" descr="preencoded.png">    </p:cNvPr>
          <p:cNvPicPr>
            <a:picLocks noChangeAspect="1"/>
          </p:cNvPicPr>
          <p:nvPr/>
        </p:nvPicPr>
        <p:blipFill>
          <a:blip r:embed="rId3"/>
          <a:stretch>
            <a:fillRect/>
          </a:stretch>
        </p:blipFill>
        <p:spPr>
          <a:xfrm>
            <a:off x="652820" y="6062543"/>
            <a:ext cx="6842046" cy="1631156"/>
          </a:xfrm>
          <a:prstGeom prst="rect">
            <a:avLst/>
          </a:prstGeom>
        </p:spPr>
      </p:pic>
      <p:pic>
        <p:nvPicPr>
          <p:cNvPr id="6" name="Image 3" descr="preencoded.png">    </p:cNvPr>
          <p:cNvPicPr>
            <a:picLocks noChangeAspect="1"/>
          </p:cNvPicPr>
          <p:nvPr/>
        </p:nvPicPr>
        <p:blipFill>
          <a:blip r:embed="rId4"/>
          <a:stretch>
            <a:fillRect/>
          </a:stretch>
        </p:blipFill>
        <p:spPr>
          <a:xfrm>
            <a:off x="9198650" y="1468755"/>
            <a:ext cx="3689271" cy="1768912"/>
          </a:xfrm>
          <a:prstGeom prst="rect">
            <a:avLst/>
          </a:prstGeom>
        </p:spPr>
      </p:pic>
      <p:sp>
        <p:nvSpPr>
          <p:cNvPr id="7" name="Text 1"/>
          <p:cNvSpPr/>
          <p:nvPr/>
        </p:nvSpPr>
        <p:spPr>
          <a:xfrm>
            <a:off x="8101489" y="3447455"/>
            <a:ext cx="2797969" cy="349687"/>
          </a:xfrm>
          <a:prstGeom prst="rect">
            <a:avLst/>
          </a:prstGeom>
          <a:noFill/>
          <a:ln/>
        </p:spPr>
        <p:txBody>
          <a:bodyPr wrap="none" lIns="0" tIns="0" rIns="0" bIns="0" rtlCol="0" anchor="t"/>
          <a:lstStyle/>
          <a:p>
            <a:pPr algn="l" indent="0" marL="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Key Findings </a:t>
            </a:r>
            <a:endParaRPr lang="en-US" sz="2200" dirty="0"/>
          </a:p>
        </p:txBody>
      </p:sp>
      <p:sp>
        <p:nvSpPr>
          <p:cNvPr id="8" name="Text 2"/>
          <p:cNvSpPr/>
          <p:nvPr/>
        </p:nvSpPr>
        <p:spPr>
          <a:xfrm>
            <a:off x="8101489" y="3983593"/>
            <a:ext cx="5883593" cy="477202"/>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443728"/>
                </a:solidFill>
                <a:latin typeface="Open Sans" pitchFamily="34" charset="0"/>
                <a:ea typeface="Open Sans" pitchFamily="34" charset="-122"/>
                <a:cs typeface="Open Sans" pitchFamily="34" charset="-120"/>
              </a:rPr>
              <a:t>PR size has a strong main effect on review time, with large PRs taking significantly longer to review (F(1, 7746) = 316.16, p &lt; 2e−16).</a:t>
            </a:r>
            <a:endParaRPr lang="en-US" sz="1450" dirty="0"/>
          </a:p>
        </p:txBody>
      </p:sp>
      <p:sp>
        <p:nvSpPr>
          <p:cNvPr id="9" name="Text 3"/>
          <p:cNvSpPr/>
          <p:nvPr/>
        </p:nvSpPr>
        <p:spPr>
          <a:xfrm>
            <a:off x="8101489" y="4526042"/>
            <a:ext cx="5883593" cy="477202"/>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443728"/>
                </a:solidFill>
                <a:latin typeface="Open Sans" pitchFamily="34" charset="0"/>
                <a:ea typeface="Open Sans" pitchFamily="34" charset="-122"/>
                <a:cs typeface="Open Sans" pitchFamily="34" charset="-120"/>
              </a:rPr>
              <a:t>Author association alone is not significant, indicating no average difference between Contributors and Members (F(1, 7746) = 1.33, p = 0.249).</a:t>
            </a:r>
            <a:endParaRPr lang="en-US" sz="1450" dirty="0"/>
          </a:p>
        </p:txBody>
      </p:sp>
      <p:sp>
        <p:nvSpPr>
          <p:cNvPr id="10" name="Text 4"/>
          <p:cNvSpPr/>
          <p:nvPr/>
        </p:nvSpPr>
        <p:spPr>
          <a:xfrm>
            <a:off x="8101489" y="5068491"/>
            <a:ext cx="5883593" cy="477202"/>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443728"/>
                </a:solidFill>
                <a:latin typeface="Open Sans" pitchFamily="34" charset="0"/>
                <a:ea typeface="Open Sans" pitchFamily="34" charset="-122"/>
                <a:cs typeface="Open Sans" pitchFamily="34" charset="-120"/>
              </a:rPr>
              <a:t>A statistically significant interaction exists between PR size and author association (F(1, 7746) = 11.51, p = 0.000697).</a:t>
            </a:r>
            <a:endParaRPr lang="en-US" sz="1450" dirty="0"/>
          </a:p>
        </p:txBody>
      </p:sp>
      <p:sp>
        <p:nvSpPr>
          <p:cNvPr id="11" name="Text 5"/>
          <p:cNvSpPr/>
          <p:nvPr/>
        </p:nvSpPr>
        <p:spPr>
          <a:xfrm>
            <a:off x="8101489" y="5610939"/>
            <a:ext cx="5883593" cy="477202"/>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443728"/>
                </a:solidFill>
                <a:latin typeface="Open Sans" pitchFamily="34" charset="0"/>
                <a:ea typeface="Open Sans" pitchFamily="34" charset="-122"/>
                <a:cs typeface="Open Sans" pitchFamily="34" charset="-120"/>
              </a:rPr>
              <a:t>Follow-up tests show that large PRs increase review time for both groups, but the magnitude of the increase differs between Contributors and Members.</a:t>
            </a:r>
            <a:endParaRPr lang="en-US" sz="1450" dirty="0"/>
          </a:p>
        </p:txBody>
      </p:sp>
      <p:sp>
        <p:nvSpPr>
          <p:cNvPr id="12" name="Text 6"/>
          <p:cNvSpPr/>
          <p:nvPr/>
        </p:nvSpPr>
        <p:spPr>
          <a:xfrm>
            <a:off x="8381286" y="6297930"/>
            <a:ext cx="5603796" cy="477202"/>
          </a:xfrm>
          <a:prstGeom prst="rect">
            <a:avLst/>
          </a:prstGeom>
          <a:noFill/>
          <a:ln/>
        </p:spPr>
        <p:txBody>
          <a:bodyPr wrap="square" lIns="0" tIns="0" rIns="0" bIns="0" rtlCol="0" anchor="t"/>
          <a:lstStyle/>
          <a:p>
            <a:pPr algn="l" indent="0" marL="0">
              <a:lnSpc>
                <a:spcPts val="1850"/>
              </a:lnSpc>
              <a:buNone/>
            </a:pPr>
            <a:r>
              <a:rPr lang="en-US" sz="1150" dirty="0">
                <a:solidFill>
                  <a:srgbClr val="BE6841"/>
                </a:solidFill>
                <a:latin typeface="Open Sans" pitchFamily="34" charset="0"/>
                <a:ea typeface="Open Sans" pitchFamily="34" charset="-122"/>
                <a:cs typeface="Open Sans" pitchFamily="34" charset="-120"/>
              </a:rPr>
              <a:t>Insight:</a:t>
            </a:r>
            <a:pPr algn="l" indent="0" marL="0">
              <a:lnSpc>
                <a:spcPts val="1850"/>
              </a:lnSpc>
              <a:buNone/>
            </a:pPr>
            <a:r>
              <a:rPr lang="en-US" sz="1150" dirty="0">
                <a:solidFill>
                  <a:srgbClr val="443728"/>
                </a:solidFill>
                <a:latin typeface="Open Sans" pitchFamily="34" charset="0"/>
                <a:ea typeface="Open Sans" pitchFamily="34" charset="-122"/>
                <a:cs typeface="Open Sans" pitchFamily="34" charset="-120"/>
              </a:rPr>
              <a:t> PR size strongly influences review duration, and its effect varies by author association.</a:t>
            </a:r>
            <a:endParaRPr lang="en-US" sz="1150" dirty="0"/>
          </a:p>
        </p:txBody>
      </p:sp>
      <p:sp>
        <p:nvSpPr>
          <p:cNvPr id="13" name="Shape 7"/>
          <p:cNvSpPr/>
          <p:nvPr/>
        </p:nvSpPr>
        <p:spPr>
          <a:xfrm>
            <a:off x="8101489" y="6297930"/>
            <a:ext cx="22860" cy="477202"/>
          </a:xfrm>
          <a:prstGeom prst="rect">
            <a:avLst/>
          </a:prstGeom>
          <a:solidFill>
            <a:srgbClr val="835E54"/>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965246"/>
            <a:ext cx="4536519" cy="566976"/>
          </a:xfrm>
          <a:prstGeom prst="rect">
            <a:avLst/>
          </a:prstGeom>
          <a:noFill/>
          <a:ln/>
        </p:spPr>
        <p:txBody>
          <a:bodyPr wrap="none" lIns="0" tIns="0" rIns="0" bIns="0" rtlCol="0" anchor="t"/>
          <a:lstStyle/>
          <a:p>
            <a:pPr algn="l" indent="0" marL="0">
              <a:lnSpc>
                <a:spcPts val="4450"/>
              </a:lnSpc>
              <a:buNone/>
            </a:pPr>
            <a:r>
              <a:rPr lang="en-US" sz="3550" b="1" dirty="0">
                <a:solidFill>
                  <a:srgbClr val="443728"/>
                </a:solidFill>
                <a:latin typeface="Crimson Pro Bold" pitchFamily="34" charset="0"/>
                <a:ea typeface="Crimson Pro Bold" pitchFamily="34" charset="-122"/>
                <a:cs typeface="Crimson Pro Bold" pitchFamily="34" charset="-120"/>
              </a:rPr>
              <a:t>Key Takeaways: </a:t>
            </a:r>
            <a:endParaRPr lang="en-US" sz="3550" dirty="0"/>
          </a:p>
        </p:txBody>
      </p:sp>
      <p:sp>
        <p:nvSpPr>
          <p:cNvPr id="3" name="Shape 1"/>
          <p:cNvSpPr/>
          <p:nvPr/>
        </p:nvSpPr>
        <p:spPr>
          <a:xfrm>
            <a:off x="793790" y="2872383"/>
            <a:ext cx="4196358" cy="2773799"/>
          </a:xfrm>
          <a:prstGeom prst="roundRect">
            <a:avLst>
              <a:gd name="adj" fmla="val 19626"/>
            </a:avLst>
          </a:prstGeom>
          <a:solidFill>
            <a:srgbClr val="EBE2E0"/>
          </a:solidFill>
          <a:ln w="7620">
            <a:solidFill>
              <a:srgbClr val="D1C8C6"/>
            </a:solidFill>
            <a:prstDash val="solid"/>
          </a:ln>
        </p:spPr>
      </p:sp>
      <p:sp>
        <p:nvSpPr>
          <p:cNvPr id="4" name="Text 2"/>
          <p:cNvSpPr/>
          <p:nvPr/>
        </p:nvSpPr>
        <p:spPr>
          <a:xfrm>
            <a:off x="1028224" y="310681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Collaboration Activity</a:t>
            </a:r>
            <a:endParaRPr lang="en-US" sz="2200" dirty="0"/>
          </a:p>
        </p:txBody>
      </p:sp>
      <p:sp>
        <p:nvSpPr>
          <p:cNvPr id="5" name="Text 3"/>
          <p:cNvSpPr/>
          <p:nvPr/>
        </p:nvSpPr>
        <p:spPr>
          <a:xfrm>
            <a:off x="1028224" y="3597235"/>
            <a:ext cx="3727490" cy="1814513"/>
          </a:xfrm>
          <a:prstGeom prst="rect">
            <a:avLst/>
          </a:prstGeom>
          <a:noFill/>
          <a:ln/>
        </p:spPr>
        <p:txBody>
          <a:bodyPr wrap="squar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The intensity of collaboration, particularly the volume of comments exchanged during the review, is a primary driver of PR review duration.</a:t>
            </a:r>
            <a:endParaRPr lang="en-US" sz="1750" dirty="0"/>
          </a:p>
        </p:txBody>
      </p:sp>
      <p:sp>
        <p:nvSpPr>
          <p:cNvPr id="6" name="Shape 4"/>
          <p:cNvSpPr/>
          <p:nvPr/>
        </p:nvSpPr>
        <p:spPr>
          <a:xfrm>
            <a:off x="5216962" y="2872383"/>
            <a:ext cx="4196358" cy="2773799"/>
          </a:xfrm>
          <a:prstGeom prst="roundRect">
            <a:avLst>
              <a:gd name="adj" fmla="val 19626"/>
            </a:avLst>
          </a:prstGeom>
          <a:solidFill>
            <a:srgbClr val="EBE2E0"/>
          </a:solidFill>
          <a:ln w="7620">
            <a:solidFill>
              <a:srgbClr val="D1C8C6"/>
            </a:solidFill>
            <a:prstDash val="solid"/>
          </a:ln>
        </p:spPr>
      </p:sp>
      <p:sp>
        <p:nvSpPr>
          <p:cNvPr id="7" name="Text 5"/>
          <p:cNvSpPr/>
          <p:nvPr/>
        </p:nvSpPr>
        <p:spPr>
          <a:xfrm>
            <a:off x="5451396" y="310681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Pull Request Size</a:t>
            </a:r>
            <a:endParaRPr lang="en-US" sz="2200" dirty="0"/>
          </a:p>
        </p:txBody>
      </p:sp>
      <p:sp>
        <p:nvSpPr>
          <p:cNvPr id="8" name="Text 6"/>
          <p:cNvSpPr/>
          <p:nvPr/>
        </p:nvSpPr>
        <p:spPr>
          <a:xfrm>
            <a:off x="5451396" y="3597235"/>
            <a:ext cx="3727490" cy="1814513"/>
          </a:xfrm>
          <a:prstGeom prst="rect">
            <a:avLst/>
          </a:prstGeom>
          <a:noFill/>
          <a:ln/>
        </p:spPr>
        <p:txBody>
          <a:bodyPr wrap="squar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The overall size of a pull request, measured by lines of code changed and files affected, also significantly impacts the time required for review.</a:t>
            </a:r>
            <a:endParaRPr lang="en-US" sz="1750" dirty="0"/>
          </a:p>
        </p:txBody>
      </p:sp>
      <p:sp>
        <p:nvSpPr>
          <p:cNvPr id="9" name="Shape 7"/>
          <p:cNvSpPr/>
          <p:nvPr/>
        </p:nvSpPr>
        <p:spPr>
          <a:xfrm>
            <a:off x="9640133" y="2872383"/>
            <a:ext cx="4196358" cy="2773799"/>
          </a:xfrm>
          <a:prstGeom prst="roundRect">
            <a:avLst>
              <a:gd name="adj" fmla="val 19626"/>
            </a:avLst>
          </a:prstGeom>
          <a:solidFill>
            <a:srgbClr val="EBE2E0"/>
          </a:solidFill>
          <a:ln w="7620">
            <a:solidFill>
              <a:srgbClr val="D1C8C6"/>
            </a:solidFill>
            <a:prstDash val="solid"/>
          </a:ln>
        </p:spPr>
      </p:sp>
      <p:sp>
        <p:nvSpPr>
          <p:cNvPr id="10" name="Text 8"/>
          <p:cNvSpPr/>
          <p:nvPr/>
        </p:nvSpPr>
        <p:spPr>
          <a:xfrm>
            <a:off x="9874568" y="310681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Interaction Effects</a:t>
            </a:r>
            <a:endParaRPr lang="en-US" sz="2200" dirty="0"/>
          </a:p>
        </p:txBody>
      </p:sp>
      <p:sp>
        <p:nvSpPr>
          <p:cNvPr id="11" name="Text 9"/>
          <p:cNvSpPr/>
          <p:nvPr/>
        </p:nvSpPr>
        <p:spPr>
          <a:xfrm>
            <a:off x="9874568" y="3597235"/>
            <a:ext cx="3727490" cy="1814513"/>
          </a:xfrm>
          <a:prstGeom prst="rect">
            <a:avLst/>
          </a:prstGeom>
          <a:noFill/>
          <a:ln/>
        </p:spPr>
        <p:txBody>
          <a:bodyPr wrap="squar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Complex interaction effects, especially between PR size and author association, reveal deeper dynamics often overlooked by simpler univariate analyses.</a:t>
            </a:r>
            <a:endParaRPr lang="en-US" sz="1750" dirty="0"/>
          </a:p>
        </p:txBody>
      </p:sp>
      <p:sp>
        <p:nvSpPr>
          <p:cNvPr id="12" name="Text 10"/>
          <p:cNvSpPr/>
          <p:nvPr/>
        </p:nvSpPr>
        <p:spPr>
          <a:xfrm>
            <a:off x="793790" y="590133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Understanding these factors is crucial for optimising software development workflows and accelerating project delivery.</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54298"/>
            <a:ext cx="8694182" cy="566976"/>
          </a:xfrm>
          <a:prstGeom prst="rect">
            <a:avLst/>
          </a:prstGeom>
          <a:noFill/>
          <a:ln/>
        </p:spPr>
        <p:txBody>
          <a:bodyPr wrap="none" lIns="0" tIns="0" rIns="0" bIns="0" rtlCol="0" anchor="t"/>
          <a:lstStyle/>
          <a:p>
            <a:pPr algn="l" indent="0" marL="0">
              <a:lnSpc>
                <a:spcPts val="4450"/>
              </a:lnSpc>
              <a:buNone/>
            </a:pPr>
            <a:r>
              <a:rPr lang="en-US" sz="3550" b="1" dirty="0">
                <a:solidFill>
                  <a:srgbClr val="443728"/>
                </a:solidFill>
                <a:latin typeface="Crimson Pro Bold" pitchFamily="34" charset="0"/>
                <a:ea typeface="Crimson Pro Bold" pitchFamily="34" charset="-122"/>
                <a:cs typeface="Crimson Pro Bold" pitchFamily="34" charset="-120"/>
              </a:rPr>
              <a:t>Practical Recommendations for Optimisation</a:t>
            </a:r>
            <a:endParaRPr lang="en-US" sz="3550" dirty="0"/>
          </a:p>
        </p:txBody>
      </p:sp>
      <p:sp>
        <p:nvSpPr>
          <p:cNvPr id="3" name="Shape 1"/>
          <p:cNvSpPr/>
          <p:nvPr/>
        </p:nvSpPr>
        <p:spPr>
          <a:xfrm>
            <a:off x="793790" y="2415064"/>
            <a:ext cx="6407944" cy="1617464"/>
          </a:xfrm>
          <a:prstGeom prst="roundRect">
            <a:avLst>
              <a:gd name="adj" fmla="val 5890"/>
            </a:avLst>
          </a:prstGeom>
          <a:solidFill>
            <a:srgbClr val="FFFCFA"/>
          </a:solidFill>
          <a:ln w="30480">
            <a:solidFill>
              <a:srgbClr val="D1C8C6"/>
            </a:solidFill>
            <a:prstDash val="solid"/>
          </a:ln>
        </p:spPr>
      </p:sp>
      <p:sp>
        <p:nvSpPr>
          <p:cNvPr id="4" name="Shape 2"/>
          <p:cNvSpPr/>
          <p:nvPr/>
        </p:nvSpPr>
        <p:spPr>
          <a:xfrm>
            <a:off x="824270" y="2445544"/>
            <a:ext cx="6346984" cy="226814"/>
          </a:xfrm>
          <a:prstGeom prst="roundRect">
            <a:avLst>
              <a:gd name="adj" fmla="val 25877"/>
            </a:avLst>
          </a:prstGeom>
          <a:solidFill>
            <a:srgbClr val="EBE2E0"/>
          </a:solidFill>
          <a:ln/>
        </p:spPr>
      </p:sp>
      <p:sp>
        <p:nvSpPr>
          <p:cNvPr id="5" name="Text 3"/>
          <p:cNvSpPr/>
          <p:nvPr/>
        </p:nvSpPr>
        <p:spPr>
          <a:xfrm>
            <a:off x="1051084" y="289917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Encourage Smaller PRs</a:t>
            </a:r>
            <a:endParaRPr lang="en-US" sz="2200" dirty="0"/>
          </a:p>
        </p:txBody>
      </p:sp>
      <p:sp>
        <p:nvSpPr>
          <p:cNvPr id="6" name="Text 4"/>
          <p:cNvSpPr/>
          <p:nvPr/>
        </p:nvSpPr>
        <p:spPr>
          <a:xfrm>
            <a:off x="1051084" y="3389590"/>
            <a:ext cx="5893356" cy="290274"/>
          </a:xfrm>
          <a:prstGeom prst="rect">
            <a:avLst/>
          </a:prstGeom>
          <a:noFill/>
          <a:ln/>
        </p:spPr>
        <p:txBody>
          <a:bodyPr wrap="none" lIns="0" tIns="0" rIns="0" bIns="0" rtlCol="0" anchor="t"/>
          <a:lstStyle/>
          <a:p>
            <a:pPr algn="l" indent="0" marL="0">
              <a:lnSpc>
                <a:spcPts val="2250"/>
              </a:lnSpc>
              <a:buNone/>
            </a:pPr>
            <a:r>
              <a:rPr lang="en-US" sz="1400" dirty="0">
                <a:solidFill>
                  <a:srgbClr val="443728"/>
                </a:solidFill>
                <a:latin typeface="Open Sans" pitchFamily="34" charset="0"/>
                <a:ea typeface="Open Sans" pitchFamily="34" charset="-122"/>
                <a:cs typeface="Open Sans" pitchFamily="34" charset="-120"/>
              </a:rPr>
              <a:t>Submit focused, incremental pull requests to reduce review time.</a:t>
            </a:r>
            <a:endParaRPr lang="en-US" sz="1400" dirty="0"/>
          </a:p>
        </p:txBody>
      </p:sp>
      <p:sp>
        <p:nvSpPr>
          <p:cNvPr id="7" name="Shape 5"/>
          <p:cNvSpPr/>
          <p:nvPr/>
        </p:nvSpPr>
        <p:spPr>
          <a:xfrm>
            <a:off x="7428548" y="2074902"/>
            <a:ext cx="6408063" cy="1957626"/>
          </a:xfrm>
          <a:prstGeom prst="roundRect">
            <a:avLst>
              <a:gd name="adj" fmla="val 4866"/>
            </a:avLst>
          </a:prstGeom>
          <a:solidFill>
            <a:srgbClr val="FFFCFA"/>
          </a:solidFill>
          <a:ln w="30480">
            <a:solidFill>
              <a:srgbClr val="D1C8C6"/>
            </a:solidFill>
            <a:prstDash val="solid"/>
          </a:ln>
        </p:spPr>
      </p:sp>
      <p:sp>
        <p:nvSpPr>
          <p:cNvPr id="8" name="Shape 6"/>
          <p:cNvSpPr/>
          <p:nvPr/>
        </p:nvSpPr>
        <p:spPr>
          <a:xfrm>
            <a:off x="7459027" y="2105382"/>
            <a:ext cx="6347103" cy="226814"/>
          </a:xfrm>
          <a:prstGeom prst="roundRect">
            <a:avLst>
              <a:gd name="adj" fmla="val 25877"/>
            </a:avLst>
          </a:prstGeom>
          <a:solidFill>
            <a:srgbClr val="EBE2E0"/>
          </a:solidFill>
          <a:ln/>
        </p:spPr>
      </p:sp>
      <p:sp>
        <p:nvSpPr>
          <p:cNvPr id="9" name="Text 7"/>
          <p:cNvSpPr/>
          <p:nvPr/>
        </p:nvSpPr>
        <p:spPr>
          <a:xfrm>
            <a:off x="7685842" y="255901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Improve PR Clarity</a:t>
            </a:r>
            <a:endParaRPr lang="en-US" sz="2200" dirty="0"/>
          </a:p>
        </p:txBody>
      </p:sp>
      <p:sp>
        <p:nvSpPr>
          <p:cNvPr id="10" name="Text 8"/>
          <p:cNvSpPr/>
          <p:nvPr/>
        </p:nvSpPr>
        <p:spPr>
          <a:xfrm>
            <a:off x="7685842" y="3049429"/>
            <a:ext cx="5893475" cy="725805"/>
          </a:xfrm>
          <a:prstGeom prst="rect">
            <a:avLst/>
          </a:prstGeom>
          <a:noFill/>
          <a:ln/>
        </p:spPr>
        <p:txBody>
          <a:bodyPr wrap="squar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Use clear descriptions and coding standards to limit unnecessary discussion.</a:t>
            </a:r>
            <a:endParaRPr lang="en-US" sz="1750" dirty="0"/>
          </a:p>
        </p:txBody>
      </p:sp>
      <p:sp>
        <p:nvSpPr>
          <p:cNvPr id="11" name="Shape 9"/>
          <p:cNvSpPr/>
          <p:nvPr/>
        </p:nvSpPr>
        <p:spPr>
          <a:xfrm>
            <a:off x="793790" y="4599503"/>
            <a:ext cx="6407944" cy="1957626"/>
          </a:xfrm>
          <a:prstGeom prst="roundRect">
            <a:avLst>
              <a:gd name="adj" fmla="val 4866"/>
            </a:avLst>
          </a:prstGeom>
          <a:solidFill>
            <a:srgbClr val="FFFCFA"/>
          </a:solidFill>
          <a:ln w="30480">
            <a:solidFill>
              <a:srgbClr val="D1C8C6"/>
            </a:solidFill>
            <a:prstDash val="solid"/>
          </a:ln>
        </p:spPr>
      </p:sp>
      <p:sp>
        <p:nvSpPr>
          <p:cNvPr id="12" name="Shape 10"/>
          <p:cNvSpPr/>
          <p:nvPr/>
        </p:nvSpPr>
        <p:spPr>
          <a:xfrm>
            <a:off x="824270" y="4629983"/>
            <a:ext cx="6346984" cy="226814"/>
          </a:xfrm>
          <a:prstGeom prst="roundRect">
            <a:avLst>
              <a:gd name="adj" fmla="val 25877"/>
            </a:avLst>
          </a:prstGeom>
          <a:solidFill>
            <a:srgbClr val="EBE2E0"/>
          </a:solidFill>
          <a:ln/>
        </p:spPr>
      </p:sp>
      <p:sp>
        <p:nvSpPr>
          <p:cNvPr id="13" name="Text 11"/>
          <p:cNvSpPr/>
          <p:nvPr/>
        </p:nvSpPr>
        <p:spPr>
          <a:xfrm>
            <a:off x="1051084" y="508361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Prioritise Large PRs</a:t>
            </a:r>
            <a:endParaRPr lang="en-US" sz="2200" dirty="0"/>
          </a:p>
        </p:txBody>
      </p:sp>
      <p:sp>
        <p:nvSpPr>
          <p:cNvPr id="14" name="Text 12"/>
          <p:cNvSpPr/>
          <p:nvPr/>
        </p:nvSpPr>
        <p:spPr>
          <a:xfrm>
            <a:off x="1051084" y="5574030"/>
            <a:ext cx="5893356" cy="725805"/>
          </a:xfrm>
          <a:prstGeom prst="rect">
            <a:avLst/>
          </a:prstGeom>
          <a:noFill/>
          <a:ln/>
        </p:spPr>
        <p:txBody>
          <a:bodyPr wrap="squar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Allocate extra review resources to large PRs, especially from core Members.</a:t>
            </a:r>
            <a:endParaRPr lang="en-US" sz="1750" dirty="0"/>
          </a:p>
        </p:txBody>
      </p:sp>
      <p:sp>
        <p:nvSpPr>
          <p:cNvPr id="15" name="Shape 13"/>
          <p:cNvSpPr/>
          <p:nvPr/>
        </p:nvSpPr>
        <p:spPr>
          <a:xfrm>
            <a:off x="7428548" y="4259342"/>
            <a:ext cx="6408063" cy="2297787"/>
          </a:xfrm>
          <a:prstGeom prst="roundRect">
            <a:avLst>
              <a:gd name="adj" fmla="val 4146"/>
            </a:avLst>
          </a:prstGeom>
          <a:solidFill>
            <a:srgbClr val="FFFCFA"/>
          </a:solidFill>
          <a:ln w="30480">
            <a:solidFill>
              <a:srgbClr val="D1C8C6"/>
            </a:solidFill>
            <a:prstDash val="solid"/>
          </a:ln>
        </p:spPr>
      </p:sp>
      <p:sp>
        <p:nvSpPr>
          <p:cNvPr id="16" name="Shape 14"/>
          <p:cNvSpPr/>
          <p:nvPr/>
        </p:nvSpPr>
        <p:spPr>
          <a:xfrm>
            <a:off x="7459027" y="4289822"/>
            <a:ext cx="6347103" cy="226814"/>
          </a:xfrm>
          <a:prstGeom prst="roundRect">
            <a:avLst>
              <a:gd name="adj" fmla="val 25877"/>
            </a:avLst>
          </a:prstGeom>
          <a:solidFill>
            <a:srgbClr val="EBE2E0"/>
          </a:solidFill>
          <a:ln/>
        </p:spPr>
      </p:sp>
      <p:sp>
        <p:nvSpPr>
          <p:cNvPr id="17" name="Text 15"/>
          <p:cNvSpPr/>
          <p:nvPr/>
        </p:nvSpPr>
        <p:spPr>
          <a:xfrm>
            <a:off x="7685842" y="474345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Streamline Workflows</a:t>
            </a:r>
            <a:endParaRPr lang="en-US" sz="2200" dirty="0"/>
          </a:p>
        </p:txBody>
      </p:sp>
      <p:sp>
        <p:nvSpPr>
          <p:cNvPr id="18" name="Text 16"/>
          <p:cNvSpPr/>
          <p:nvPr/>
        </p:nvSpPr>
        <p:spPr>
          <a:xfrm>
            <a:off x="7685842" y="5233868"/>
            <a:ext cx="5893475" cy="725805"/>
          </a:xfrm>
          <a:prstGeom prst="rect">
            <a:avLst/>
          </a:prstGeom>
          <a:noFill/>
          <a:ln/>
        </p:spPr>
        <p:txBody>
          <a:bodyPr wrap="squar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Optimize review processes and collaboration tools to remove bottlenecks.</a:t>
            </a:r>
            <a:endParaRPr lang="en-US" sz="1750" dirty="0"/>
          </a:p>
        </p:txBody>
      </p:sp>
      <p:sp>
        <p:nvSpPr>
          <p:cNvPr id="19" name="Text 17"/>
          <p:cNvSpPr/>
          <p:nvPr/>
        </p:nvSpPr>
        <p:spPr>
          <a:xfrm>
            <a:off x="793790" y="6812280"/>
            <a:ext cx="13042821" cy="362903"/>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230868"/>
            <a:ext cx="5193268" cy="566976"/>
          </a:xfrm>
          <a:prstGeom prst="rect">
            <a:avLst/>
          </a:prstGeom>
          <a:noFill/>
          <a:ln/>
        </p:spPr>
        <p:txBody>
          <a:bodyPr wrap="none" lIns="0" tIns="0" rIns="0" bIns="0" rtlCol="0" anchor="t"/>
          <a:lstStyle/>
          <a:p>
            <a:pPr algn="l" indent="0" marL="0">
              <a:lnSpc>
                <a:spcPts val="4450"/>
              </a:lnSpc>
              <a:buNone/>
            </a:pPr>
            <a:r>
              <a:rPr lang="en-US" sz="3550" b="1" dirty="0">
                <a:solidFill>
                  <a:srgbClr val="443728"/>
                </a:solidFill>
                <a:latin typeface="Crimson Pro Bold" pitchFamily="34" charset="0"/>
                <a:ea typeface="Crimson Pro Bold" pitchFamily="34" charset="-122"/>
                <a:cs typeface="Crimson Pro Bold" pitchFamily="34" charset="-120"/>
              </a:rPr>
              <a:t>Future Research Directions</a:t>
            </a:r>
            <a:endParaRPr lang="en-US" sz="3550" dirty="0"/>
          </a:p>
        </p:txBody>
      </p:sp>
      <p:sp>
        <p:nvSpPr>
          <p:cNvPr id="3" name="Shape 1"/>
          <p:cNvSpPr/>
          <p:nvPr/>
        </p:nvSpPr>
        <p:spPr>
          <a:xfrm>
            <a:off x="793790" y="2251472"/>
            <a:ext cx="4196358" cy="2411254"/>
          </a:xfrm>
          <a:prstGeom prst="roundRect">
            <a:avLst>
              <a:gd name="adj" fmla="val 3951"/>
            </a:avLst>
          </a:prstGeom>
          <a:solidFill>
            <a:srgbClr val="FFFCFA"/>
          </a:solidFill>
          <a:ln w="30480">
            <a:solidFill>
              <a:srgbClr val="D1C8C6"/>
            </a:solidFill>
            <a:prstDash val="solid"/>
          </a:ln>
        </p:spPr>
      </p:sp>
      <p:sp>
        <p:nvSpPr>
          <p:cNvPr id="4" name="Shape 2"/>
          <p:cNvSpPr/>
          <p:nvPr/>
        </p:nvSpPr>
        <p:spPr>
          <a:xfrm>
            <a:off x="824270" y="2281952"/>
            <a:ext cx="4135398" cy="680442"/>
          </a:xfrm>
          <a:prstGeom prst="roundRect">
            <a:avLst>
              <a:gd name="adj" fmla="val 8626"/>
            </a:avLst>
          </a:prstGeom>
          <a:solidFill>
            <a:srgbClr val="EBE2E0"/>
          </a:solidFill>
          <a:ln/>
        </p:spPr>
      </p:sp>
      <p:sp>
        <p:nvSpPr>
          <p:cNvPr id="5" name="Text 3"/>
          <p:cNvSpPr/>
          <p:nvPr/>
        </p:nvSpPr>
        <p:spPr>
          <a:xfrm>
            <a:off x="2721888" y="2405658"/>
            <a:ext cx="340162" cy="425291"/>
          </a:xfrm>
          <a:prstGeom prst="rect">
            <a:avLst/>
          </a:prstGeom>
          <a:noFill/>
          <a:ln/>
        </p:spPr>
        <p:txBody>
          <a:bodyPr wrap="none" lIns="0" tIns="0" rIns="0" bIns="0" rtlCol="0" anchor="t"/>
          <a:lstStyle/>
          <a:p>
            <a:pPr algn="l" indent="0" marL="0">
              <a:lnSpc>
                <a:spcPts val="2650"/>
              </a:lnSpc>
              <a:buNone/>
            </a:pPr>
            <a:r>
              <a:rPr lang="en-US" sz="2650" b="1" dirty="0">
                <a:solidFill>
                  <a:srgbClr val="443728"/>
                </a:solidFill>
                <a:latin typeface="Crimson Pro Bold" pitchFamily="34" charset="0"/>
                <a:ea typeface="Crimson Pro Bold" pitchFamily="34" charset="-122"/>
                <a:cs typeface="Crimson Pro Bold" pitchFamily="34" charset="-120"/>
              </a:rPr>
              <a:t>1</a:t>
            </a:r>
            <a:endParaRPr lang="en-US" sz="2650" dirty="0"/>
          </a:p>
        </p:txBody>
      </p:sp>
      <p:sp>
        <p:nvSpPr>
          <p:cNvPr id="6" name="Text 4"/>
          <p:cNvSpPr/>
          <p:nvPr/>
        </p:nvSpPr>
        <p:spPr>
          <a:xfrm>
            <a:off x="1051084" y="318920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Impact of Automation</a:t>
            </a:r>
            <a:endParaRPr lang="en-US" sz="2200" dirty="0"/>
          </a:p>
        </p:txBody>
      </p:sp>
      <p:sp>
        <p:nvSpPr>
          <p:cNvPr id="7" name="Text 5"/>
          <p:cNvSpPr/>
          <p:nvPr/>
        </p:nvSpPr>
        <p:spPr>
          <a:xfrm>
            <a:off x="1051084" y="3679627"/>
            <a:ext cx="3681770" cy="725805"/>
          </a:xfrm>
          <a:prstGeom prst="rect">
            <a:avLst/>
          </a:prstGeom>
          <a:noFill/>
          <a:ln/>
        </p:spPr>
        <p:txBody>
          <a:bodyPr wrap="squar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Study how automated testing and static analysis impact review time.</a:t>
            </a:r>
            <a:endParaRPr lang="en-US" sz="1750" dirty="0"/>
          </a:p>
        </p:txBody>
      </p:sp>
      <p:sp>
        <p:nvSpPr>
          <p:cNvPr id="8" name="Shape 6"/>
          <p:cNvSpPr/>
          <p:nvPr/>
        </p:nvSpPr>
        <p:spPr>
          <a:xfrm>
            <a:off x="5216962" y="2251472"/>
            <a:ext cx="4196358" cy="2411254"/>
          </a:xfrm>
          <a:prstGeom prst="roundRect">
            <a:avLst>
              <a:gd name="adj" fmla="val 3951"/>
            </a:avLst>
          </a:prstGeom>
          <a:solidFill>
            <a:srgbClr val="FFFCFA"/>
          </a:solidFill>
          <a:ln w="30480">
            <a:solidFill>
              <a:srgbClr val="D1C8C6"/>
            </a:solidFill>
            <a:prstDash val="solid"/>
          </a:ln>
        </p:spPr>
      </p:sp>
      <p:sp>
        <p:nvSpPr>
          <p:cNvPr id="9" name="Shape 7"/>
          <p:cNvSpPr/>
          <p:nvPr/>
        </p:nvSpPr>
        <p:spPr>
          <a:xfrm>
            <a:off x="5247442" y="2281952"/>
            <a:ext cx="4135398" cy="680442"/>
          </a:xfrm>
          <a:prstGeom prst="roundRect">
            <a:avLst>
              <a:gd name="adj" fmla="val 8626"/>
            </a:avLst>
          </a:prstGeom>
          <a:solidFill>
            <a:srgbClr val="EBE2E0"/>
          </a:solidFill>
          <a:ln/>
        </p:spPr>
      </p:sp>
      <p:sp>
        <p:nvSpPr>
          <p:cNvPr id="10" name="Text 8"/>
          <p:cNvSpPr/>
          <p:nvPr/>
        </p:nvSpPr>
        <p:spPr>
          <a:xfrm>
            <a:off x="7145060" y="2405658"/>
            <a:ext cx="340162" cy="425291"/>
          </a:xfrm>
          <a:prstGeom prst="rect">
            <a:avLst/>
          </a:prstGeom>
          <a:noFill/>
          <a:ln/>
        </p:spPr>
        <p:txBody>
          <a:bodyPr wrap="none" lIns="0" tIns="0" rIns="0" bIns="0" rtlCol="0" anchor="t"/>
          <a:lstStyle/>
          <a:p>
            <a:pPr algn="l" indent="0" marL="0">
              <a:lnSpc>
                <a:spcPts val="2650"/>
              </a:lnSpc>
              <a:buNone/>
            </a:pPr>
            <a:r>
              <a:rPr lang="en-US" sz="2650" b="1" dirty="0">
                <a:solidFill>
                  <a:srgbClr val="443728"/>
                </a:solidFill>
                <a:latin typeface="Crimson Pro Bold" pitchFamily="34" charset="0"/>
                <a:ea typeface="Crimson Pro Bold" pitchFamily="34" charset="-122"/>
                <a:cs typeface="Crimson Pro Bold" pitchFamily="34" charset="-120"/>
              </a:rPr>
              <a:t>2</a:t>
            </a:r>
            <a:endParaRPr lang="en-US" sz="2650" dirty="0"/>
          </a:p>
        </p:txBody>
      </p:sp>
      <p:sp>
        <p:nvSpPr>
          <p:cNvPr id="11" name="Text 9"/>
          <p:cNvSpPr/>
          <p:nvPr/>
        </p:nvSpPr>
        <p:spPr>
          <a:xfrm>
            <a:off x="5474256" y="318920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Reviewer Expertise</a:t>
            </a:r>
            <a:endParaRPr lang="en-US" sz="2200" dirty="0"/>
          </a:p>
        </p:txBody>
      </p:sp>
      <p:sp>
        <p:nvSpPr>
          <p:cNvPr id="12" name="Text 10"/>
          <p:cNvSpPr/>
          <p:nvPr/>
        </p:nvSpPr>
        <p:spPr>
          <a:xfrm>
            <a:off x="5474256" y="3679627"/>
            <a:ext cx="3681770" cy="725805"/>
          </a:xfrm>
          <a:prstGeom prst="rect">
            <a:avLst/>
          </a:prstGeom>
          <a:noFill/>
          <a:ln/>
        </p:spPr>
        <p:txBody>
          <a:bodyPr wrap="squar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Examine how reviewer experience influences review efficiency.</a:t>
            </a:r>
            <a:endParaRPr lang="en-US" sz="1750" dirty="0"/>
          </a:p>
        </p:txBody>
      </p:sp>
      <p:sp>
        <p:nvSpPr>
          <p:cNvPr id="13" name="Shape 11"/>
          <p:cNvSpPr/>
          <p:nvPr/>
        </p:nvSpPr>
        <p:spPr>
          <a:xfrm>
            <a:off x="9640133" y="2251472"/>
            <a:ext cx="4196358" cy="2411254"/>
          </a:xfrm>
          <a:prstGeom prst="roundRect">
            <a:avLst>
              <a:gd name="adj" fmla="val 3951"/>
            </a:avLst>
          </a:prstGeom>
          <a:solidFill>
            <a:srgbClr val="FFFCFA"/>
          </a:solidFill>
          <a:ln w="30480">
            <a:solidFill>
              <a:srgbClr val="D1C8C6"/>
            </a:solidFill>
            <a:prstDash val="solid"/>
          </a:ln>
        </p:spPr>
      </p:sp>
      <p:sp>
        <p:nvSpPr>
          <p:cNvPr id="14" name="Shape 12"/>
          <p:cNvSpPr/>
          <p:nvPr/>
        </p:nvSpPr>
        <p:spPr>
          <a:xfrm>
            <a:off x="9670613" y="2281952"/>
            <a:ext cx="4135398" cy="680442"/>
          </a:xfrm>
          <a:prstGeom prst="roundRect">
            <a:avLst>
              <a:gd name="adj" fmla="val 8626"/>
            </a:avLst>
          </a:prstGeom>
          <a:solidFill>
            <a:srgbClr val="EBE2E0"/>
          </a:solidFill>
          <a:ln/>
        </p:spPr>
      </p:sp>
      <p:sp>
        <p:nvSpPr>
          <p:cNvPr id="15" name="Text 13"/>
          <p:cNvSpPr/>
          <p:nvPr/>
        </p:nvSpPr>
        <p:spPr>
          <a:xfrm>
            <a:off x="11568232" y="2405658"/>
            <a:ext cx="340162" cy="425291"/>
          </a:xfrm>
          <a:prstGeom prst="rect">
            <a:avLst/>
          </a:prstGeom>
          <a:noFill/>
          <a:ln/>
        </p:spPr>
        <p:txBody>
          <a:bodyPr wrap="none" lIns="0" tIns="0" rIns="0" bIns="0" rtlCol="0" anchor="t"/>
          <a:lstStyle/>
          <a:p>
            <a:pPr algn="l" indent="0" marL="0">
              <a:lnSpc>
                <a:spcPts val="2650"/>
              </a:lnSpc>
              <a:buNone/>
            </a:pPr>
            <a:r>
              <a:rPr lang="en-US" sz="2650" b="1" dirty="0">
                <a:solidFill>
                  <a:srgbClr val="443728"/>
                </a:solidFill>
                <a:latin typeface="Crimson Pro Bold" pitchFamily="34" charset="0"/>
                <a:ea typeface="Crimson Pro Bold" pitchFamily="34" charset="-122"/>
                <a:cs typeface="Crimson Pro Bold" pitchFamily="34" charset="-120"/>
              </a:rPr>
              <a:t>3</a:t>
            </a:r>
            <a:endParaRPr lang="en-US" sz="2650" dirty="0"/>
          </a:p>
        </p:txBody>
      </p:sp>
      <p:sp>
        <p:nvSpPr>
          <p:cNvPr id="16" name="Text 14"/>
          <p:cNvSpPr/>
          <p:nvPr/>
        </p:nvSpPr>
        <p:spPr>
          <a:xfrm>
            <a:off x="9897427" y="318920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443728"/>
                </a:solidFill>
                <a:latin typeface="Crimson Pro Bold" pitchFamily="34" charset="0"/>
                <a:ea typeface="Crimson Pro Bold" pitchFamily="34" charset="-122"/>
                <a:cs typeface="Crimson Pro Bold" pitchFamily="34" charset="-120"/>
              </a:rPr>
              <a:t>Cross-Project Analysis</a:t>
            </a:r>
            <a:endParaRPr lang="en-US" sz="2200" dirty="0"/>
          </a:p>
        </p:txBody>
      </p:sp>
      <p:sp>
        <p:nvSpPr>
          <p:cNvPr id="17" name="Text 15"/>
          <p:cNvSpPr/>
          <p:nvPr/>
        </p:nvSpPr>
        <p:spPr>
          <a:xfrm>
            <a:off x="9897427" y="3679627"/>
            <a:ext cx="3681770" cy="725805"/>
          </a:xfrm>
          <a:prstGeom prst="rect">
            <a:avLst/>
          </a:prstGeom>
          <a:noFill/>
          <a:ln/>
        </p:spPr>
        <p:txBody>
          <a:bodyPr wrap="squar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Compare findings across diverse open-source projects.</a:t>
            </a:r>
            <a:endParaRPr lang="en-US" sz="1750" dirty="0"/>
          </a:p>
        </p:txBody>
      </p:sp>
      <p:sp>
        <p:nvSpPr>
          <p:cNvPr id="18" name="Text 16"/>
          <p:cNvSpPr/>
          <p:nvPr/>
        </p:nvSpPr>
        <p:spPr>
          <a:xfrm>
            <a:off x="793790" y="5002887"/>
            <a:ext cx="4536519" cy="566976"/>
          </a:xfrm>
          <a:prstGeom prst="rect">
            <a:avLst/>
          </a:prstGeom>
          <a:noFill/>
          <a:ln/>
        </p:spPr>
        <p:txBody>
          <a:bodyPr wrap="none" lIns="0" tIns="0" rIns="0" bIns="0" rtlCol="0" anchor="t"/>
          <a:lstStyle/>
          <a:p>
            <a:pPr algn="l" indent="0" marL="0">
              <a:lnSpc>
                <a:spcPts val="4450"/>
              </a:lnSpc>
              <a:buNone/>
            </a:pPr>
            <a:r>
              <a:rPr lang="en-US" sz="3550" b="1" dirty="0">
                <a:solidFill>
                  <a:srgbClr val="443728"/>
                </a:solidFill>
                <a:latin typeface="Crimson Pro Bold" pitchFamily="34" charset="0"/>
                <a:ea typeface="Crimson Pro Bold" pitchFamily="34" charset="-122"/>
                <a:cs typeface="Crimson Pro Bold" pitchFamily="34" charset="-120"/>
              </a:rPr>
              <a:t>Conclusion</a:t>
            </a:r>
            <a:endParaRPr lang="en-US" sz="3550" dirty="0"/>
          </a:p>
        </p:txBody>
      </p:sp>
      <p:sp>
        <p:nvSpPr>
          <p:cNvPr id="19" name="Text 17"/>
          <p:cNvSpPr/>
          <p:nvPr/>
        </p:nvSpPr>
        <p:spPr>
          <a:xfrm>
            <a:off x="793790" y="5910024"/>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443728"/>
                </a:solidFill>
                <a:latin typeface="Open Sans" pitchFamily="34" charset="0"/>
                <a:ea typeface="Open Sans" pitchFamily="34" charset="-122"/>
                <a:cs typeface="Open Sans" pitchFamily="34" charset="-120"/>
              </a:rPr>
              <a:t>PR review time is driven more by collaboration intensity and PR size than author role alone. By managing discussion, encouraging smaller PRs, and optimizing review workflows, teams can significantly improve review efficiency and project velocity.</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2025-12-05T18:12:47Z</dcterms:created>
  <dcterms:modified xsi:type="dcterms:W3CDTF">2025-12-05T18:12:47Z</dcterms:modified>
</cp:coreProperties>
</file>